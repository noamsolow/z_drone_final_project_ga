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59" r:id="rId3"/>
    <p:sldId id="261" r:id="rId4"/>
    <p:sldId id="262" r:id="rId5"/>
    <p:sldId id="264" r:id="rId6"/>
    <p:sldId id="265" r:id="rId7"/>
    <p:sldId id="266" r:id="rId8"/>
    <p:sldId id="267" r:id="rId9"/>
    <p:sldId id="268" r:id="rId10"/>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0943BF-A0DD-4719-99C9-B327C22E134C}" v="1" dt="2025-11-27T12:48:58.2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1166"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am solow" userId="f3ad773ffc247e2b" providerId="LiveId" clId="{7F01D878-B537-485C-935C-693D5120228B}"/>
    <pc:docChg chg="modSld">
      <pc:chgData name="noam solow" userId="f3ad773ffc247e2b" providerId="LiveId" clId="{7F01D878-B537-485C-935C-693D5120228B}" dt="2025-11-27T12:48:58.218" v="1" actId="20578"/>
      <pc:docMkLst>
        <pc:docMk/>
      </pc:docMkLst>
      <pc:sldChg chg="modSp mod">
        <pc:chgData name="noam solow" userId="f3ad773ffc247e2b" providerId="LiveId" clId="{7F01D878-B537-485C-935C-693D5120228B}" dt="2025-11-27T12:47:43.632" v="0" actId="20577"/>
        <pc:sldMkLst>
          <pc:docMk/>
          <pc:sldMk cId="2848004688" sldId="265"/>
        </pc:sldMkLst>
        <pc:spChg chg="mod">
          <ac:chgData name="noam solow" userId="f3ad773ffc247e2b" providerId="LiveId" clId="{7F01D878-B537-485C-935C-693D5120228B}" dt="2025-11-27T12:47:43.632" v="0" actId="20577"/>
          <ac:spMkLst>
            <pc:docMk/>
            <pc:sldMk cId="2848004688" sldId="265"/>
            <ac:spMk id="11" creationId="{4A6AD0EA-B648-1447-7437-EBC77166FF5E}"/>
          </ac:spMkLst>
        </pc:spChg>
      </pc:sldChg>
      <pc:sldChg chg="modSp">
        <pc:chgData name="noam solow" userId="f3ad773ffc247e2b" providerId="LiveId" clId="{7F01D878-B537-485C-935C-693D5120228B}" dt="2025-11-27T12:48:58.218" v="1" actId="20578"/>
        <pc:sldMkLst>
          <pc:docMk/>
          <pc:sldMk cId="2914153211" sldId="267"/>
        </pc:sldMkLst>
        <pc:spChg chg="mod">
          <ac:chgData name="noam solow" userId="f3ad773ffc247e2b" providerId="LiveId" clId="{7F01D878-B537-485C-935C-693D5120228B}" dt="2025-11-27T12:48:58.218" v="1" actId="20578"/>
          <ac:spMkLst>
            <pc:docMk/>
            <pc:sldMk cId="2914153211" sldId="267"/>
            <ac:spMk id="4" creationId="{2EDAEC5A-5CDF-70D7-E6CD-C43CFA43742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62AB0E-C194-462F-A0AB-A84C6DBEFAB5}" type="datetimeFigureOut">
              <a:rPr lang="en-IL" smtClean="0"/>
              <a:t>27/11/2025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78380A-DE9B-4969-9312-906BA819635D}" type="slidenum">
              <a:rPr lang="en-IL" smtClean="0"/>
              <a:t>‹#›</a:t>
            </a:fld>
            <a:endParaRPr lang="en-IL"/>
          </a:p>
        </p:txBody>
      </p:sp>
    </p:spTree>
    <p:extLst>
      <p:ext uri="{BB962C8B-B14F-4D97-AF65-F5344CB8AC3E}">
        <p14:creationId xmlns:p14="http://schemas.microsoft.com/office/powerpoint/2010/main" val="37769087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פרויקט גמר זה מתמקד בפיתוח מערכת חדשנית להערכת עומק רחפן (Z) מתמונה בודדת בעזרת Deep Learning. הצוות כולל את שמות חברי הצוות, בהנחיית המנחה ושיתוף החברה. תאריך ההגשה מצוין. המערכת מאפשרת חישוב מרחק הרחפן מהמצלמה במדויק מתמונה אחת בלבד.</a:t>
            </a:r>
          </a:p>
        </p:txBody>
      </p:sp>
      <p:sp>
        <p:nvSpPr>
          <p:cNvPr id="4" name="Slide Number Placeholder 3"/>
          <p:cNvSpPr>
            <a:spLocks noGrp="1"/>
          </p:cNvSpPr>
          <p:nvPr>
            <p:ph type="sldNum" sz="quarter" idx="5"/>
          </p:nvPr>
        </p:nvSpPr>
        <p:spPr/>
        <p:txBody>
          <a:bodyPr/>
          <a:lstStyle/>
          <a:p>
            <a:fld id="{D9F36CC5-7A99-4290-82AA-1688FB49E7E7}" type="slidenum">
              <a:rPr lang="en-IL" smtClean="0"/>
              <a:t>1</a:t>
            </a:fld>
            <a:endParaRPr lang="en-IL"/>
          </a:p>
        </p:txBody>
      </p:sp>
    </p:spTree>
    <p:extLst>
      <p:ext uri="{BB962C8B-B14F-4D97-AF65-F5344CB8AC3E}">
        <p14:creationId xmlns:p14="http://schemas.microsoft.com/office/powerpoint/2010/main" val="24080211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זיהוי מיקום תלת־ממדי של רחפן חיוני למעקב, בקרה והתרעה. פתרונות קלאסיים דוגמת סטראו או LiDAR יקרים ומורכבים ליישום. היעד הוא להציע פתרון מונוקולרי זול ופשוט יותר, אך האתגר הגדול הוא להפיק מידע תלת־ממדי מסיגנל דו־ממדי בלבד וללמוד עומק מרמזים ויזואליים.</a:t>
            </a:r>
          </a:p>
        </p:txBody>
      </p:sp>
      <p:sp>
        <p:nvSpPr>
          <p:cNvPr id="4" name="Slide Number Placeholder 3"/>
          <p:cNvSpPr>
            <a:spLocks noGrp="1"/>
          </p:cNvSpPr>
          <p:nvPr>
            <p:ph type="sldNum" sz="quarter" idx="5"/>
          </p:nvPr>
        </p:nvSpPr>
        <p:spPr/>
        <p:txBody>
          <a:bodyPr/>
          <a:lstStyle/>
          <a:p>
            <a:fld id="{6A78380A-DE9B-4969-9312-906BA819635D}" type="slidenum">
              <a:rPr lang="en-IL" smtClean="0"/>
              <a:t>2</a:t>
            </a:fld>
            <a:endParaRPr lang="en-IL"/>
          </a:p>
        </p:txBody>
      </p:sp>
    </p:spTree>
    <p:extLst>
      <p:ext uri="{BB962C8B-B14F-4D97-AF65-F5344CB8AC3E}">
        <p14:creationId xmlns:p14="http://schemas.microsoft.com/office/powerpoint/2010/main" val="136654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המשימה: להעריך את מרחק הרחפן מהמצלמה ("Z בלבד") מתוך תמונה אחת. קלט: תמונה, Bounding Box, ו-GT של Z מהסימולטור. פלט: Z במטרים – עומק הרחפן. אנו אחראים על Z, בעוד צוות אחר עוסק ב-X,Y. סוג דאטה: סינתטי בלבד עם GT מדויק.</a:t>
            </a:r>
          </a:p>
        </p:txBody>
      </p:sp>
      <p:sp>
        <p:nvSpPr>
          <p:cNvPr id="4" name="Slide Number Placeholder 3"/>
          <p:cNvSpPr>
            <a:spLocks noGrp="1"/>
          </p:cNvSpPr>
          <p:nvPr>
            <p:ph type="sldNum" sz="quarter" idx="5"/>
          </p:nvPr>
        </p:nvSpPr>
        <p:spPr/>
        <p:txBody>
          <a:bodyPr/>
          <a:lstStyle/>
          <a:p>
            <a:fld id="{6A78380A-DE9B-4969-9312-906BA819635D}" type="slidenum">
              <a:rPr lang="en-IL" smtClean="0"/>
              <a:t>3</a:t>
            </a:fld>
            <a:endParaRPr lang="en-IL"/>
          </a:p>
        </p:txBody>
      </p:sp>
    </p:spTree>
    <p:extLst>
      <p:ext uri="{BB962C8B-B14F-4D97-AF65-F5344CB8AC3E}">
        <p14:creationId xmlns:p14="http://schemas.microsoft.com/office/powerpoint/2010/main" val="19359026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המאמר המלווה מספק בסיס תיאורטי חשוב לפיתוח הפתרון ומציג גישות עדכניות בתחום. הוא יוצר מסגרת חשיבה ומעורר השראה לרעיונות מקוריים. בנוסף, המאמר מדגיש את האתגרים המרכזיים ומציע כיווני פעולה המהווים נקודת מוצא לפתרון היצירתי שלנו.</a:t>
            </a:r>
          </a:p>
        </p:txBody>
      </p:sp>
      <p:sp>
        <p:nvSpPr>
          <p:cNvPr id="4" name="Slide Number Placeholder 3"/>
          <p:cNvSpPr>
            <a:spLocks noGrp="1"/>
          </p:cNvSpPr>
          <p:nvPr>
            <p:ph type="sldNum" sz="quarter" idx="5"/>
          </p:nvPr>
        </p:nvSpPr>
        <p:spPr/>
        <p:txBody>
          <a:bodyPr/>
          <a:lstStyle/>
          <a:p>
            <a:fld id="{6A78380A-DE9B-4969-9312-906BA819635D}" type="slidenum">
              <a:rPr lang="en-IL" smtClean="0"/>
              <a:t>4</a:t>
            </a:fld>
            <a:endParaRPr lang="en-IL"/>
          </a:p>
        </p:txBody>
      </p:sp>
    </p:spTree>
    <p:extLst>
      <p:ext uri="{BB962C8B-B14F-4D97-AF65-F5344CB8AC3E}">
        <p14:creationId xmlns:p14="http://schemas.microsoft.com/office/powerpoint/2010/main" val="3475315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הדאטה נאסף מסימולציות בלבד ב-Unreal Engine, המספק Ground Truth מושלם של מיקום הרחפן לכל פריים. שמירה על מיקום הרחפן במערכת הצירים של המצלמה הכרחית למדידת מרחק נכון. בנוסף, יש לסנכרן תיעוד הפריימים עם הלוג למניעת זיהום דאטה, ולגוון בטווחים, רקעים ותנאי מזג אוויר.</a:t>
            </a:r>
          </a:p>
        </p:txBody>
      </p:sp>
      <p:sp>
        <p:nvSpPr>
          <p:cNvPr id="4" name="Slide Number Placeholder 3"/>
          <p:cNvSpPr>
            <a:spLocks noGrp="1"/>
          </p:cNvSpPr>
          <p:nvPr>
            <p:ph type="sldNum" sz="quarter" idx="5"/>
          </p:nvPr>
        </p:nvSpPr>
        <p:spPr/>
        <p:txBody>
          <a:bodyPr/>
          <a:lstStyle/>
          <a:p>
            <a:fld id="{6A78380A-DE9B-4969-9312-906BA819635D}" type="slidenum">
              <a:rPr lang="en-IL" smtClean="0"/>
              <a:t>5</a:t>
            </a:fld>
            <a:endParaRPr lang="en-IL"/>
          </a:p>
        </p:txBody>
      </p:sp>
    </p:spTree>
    <p:extLst>
      <p:ext uri="{BB962C8B-B14F-4D97-AF65-F5344CB8AC3E}">
        <p14:creationId xmlns:p14="http://schemas.microsoft.com/office/powerpoint/2010/main" val="36721848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ערך Z ב-Ground Truth חייב להינתן ביחס למצלמה (Camera Space) ולא ביחס לעולם. אם Unreal מספק קואורדינטות ב-World Space, יש לבצע המרה ע"י חיסור מיקום המצלמה וסיבוב לפי האוריינטציה שלה. יש להבטיח שפרמטרי המצלמה (fx, fy, cx, cy, FOV, רזולוציה) זהים בין Unreal לחישובים ולאימון, כדי למנוע שגיאות עומק שיטתיות. מומלץ לבדוק תקינות ההמרה והפרמטרים מוקדם על פריימים ידועים.</a:t>
            </a:r>
          </a:p>
        </p:txBody>
      </p:sp>
      <p:sp>
        <p:nvSpPr>
          <p:cNvPr id="4" name="Slide Number Placeholder 3"/>
          <p:cNvSpPr>
            <a:spLocks noGrp="1"/>
          </p:cNvSpPr>
          <p:nvPr>
            <p:ph type="sldNum" sz="quarter" idx="5"/>
          </p:nvPr>
        </p:nvSpPr>
        <p:spPr/>
        <p:txBody>
          <a:bodyPr/>
          <a:lstStyle/>
          <a:p>
            <a:fld id="{6A78380A-DE9B-4969-9312-906BA819635D}" type="slidenum">
              <a:rPr lang="en-IL" smtClean="0"/>
              <a:t>6</a:t>
            </a:fld>
            <a:endParaRPr lang="en-IL"/>
          </a:p>
        </p:txBody>
      </p:sp>
    </p:spTree>
    <p:extLst>
      <p:ext uri="{BB962C8B-B14F-4D97-AF65-F5344CB8AC3E}">
        <p14:creationId xmlns:p14="http://schemas.microsoft.com/office/powerpoint/2010/main" val="269001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נבחר להתחיל עם מודל MiDaS כ-baseline להערכת עומק מונוקולרית. MiDaS מספק מפת עומק יחסית בקלות וללא צורך באימון מוקדם. עומק הרחפן ייחלץ מאזור ה-Bounding Box במפת העומק, ונבצע Scale Calibration מול ערכי ה-GT של Unreal כדי לקבל ערכי Z במטרים. במידת הצורך, נבחן גם את ZoeDepth עבור עומק מטרי מדויק יותר.</a:t>
            </a:r>
          </a:p>
        </p:txBody>
      </p:sp>
      <p:sp>
        <p:nvSpPr>
          <p:cNvPr id="4" name="Slide Number Placeholder 3"/>
          <p:cNvSpPr>
            <a:spLocks noGrp="1"/>
          </p:cNvSpPr>
          <p:nvPr>
            <p:ph type="sldNum" sz="quarter" idx="5"/>
          </p:nvPr>
        </p:nvSpPr>
        <p:spPr/>
        <p:txBody>
          <a:bodyPr/>
          <a:lstStyle/>
          <a:p>
            <a:fld id="{6A78380A-DE9B-4969-9312-906BA819635D}" type="slidenum">
              <a:rPr lang="en-IL" smtClean="0"/>
              <a:t>7</a:t>
            </a:fld>
            <a:endParaRPr lang="en-IL"/>
          </a:p>
        </p:txBody>
      </p:sp>
    </p:spTree>
    <p:extLst>
      <p:ext uri="{BB962C8B-B14F-4D97-AF65-F5344CB8AC3E}">
        <p14:creationId xmlns:p14="http://schemas.microsoft.com/office/powerpoint/2010/main" val="42234673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מריצים את מודל העומק על כל התמונה ומקבלים Depth Map. משתמשים ב-Bounding Box כדי לבודד את אזור הרחפן מהמפה. מחלצים ערך עומק מייצג לרחפן, למשל ממוצע או חציון בתוך התיבה. התוצאה היא ערך Z יחסי, לפני המרה ליחידות מטר.</a:t>
            </a:r>
          </a:p>
        </p:txBody>
      </p:sp>
      <p:sp>
        <p:nvSpPr>
          <p:cNvPr id="4" name="Slide Number Placeholder 3"/>
          <p:cNvSpPr>
            <a:spLocks noGrp="1"/>
          </p:cNvSpPr>
          <p:nvPr>
            <p:ph type="sldNum" sz="quarter" idx="5"/>
          </p:nvPr>
        </p:nvSpPr>
        <p:spPr/>
        <p:txBody>
          <a:bodyPr/>
          <a:lstStyle/>
          <a:p>
            <a:fld id="{6A78380A-DE9B-4969-9312-906BA819635D}" type="slidenum">
              <a:rPr lang="en-IL" smtClean="0"/>
              <a:t>8</a:t>
            </a:fld>
            <a:endParaRPr lang="en-IL"/>
          </a:p>
        </p:txBody>
      </p:sp>
    </p:spTree>
    <p:extLst>
      <p:ext uri="{BB962C8B-B14F-4D97-AF65-F5344CB8AC3E}">
        <p14:creationId xmlns:p14="http://schemas.microsoft.com/office/powerpoint/2010/main" val="18095123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t>מקור תמונה: ספריית התוכן של Microsoft 365
Python ו-PyTorch שימשו לאימון והרצת המודלים בזכות הפשטות והגמישות שלהן. YOLO נבחר לזיהוי רחפנים והפקת Bounding Box מדויק. OpenCV ו-Albumentations שימשו לעיבוד תמונה ואוגמנטציה, מה ששיפר את ביצועי הזיהוי ועזר להתמודד עם מגוון מצבים בתמונות.</a:t>
            </a:r>
          </a:p>
        </p:txBody>
      </p:sp>
      <p:sp>
        <p:nvSpPr>
          <p:cNvPr id="4" name="Slide Number Placeholder 3"/>
          <p:cNvSpPr>
            <a:spLocks noGrp="1"/>
          </p:cNvSpPr>
          <p:nvPr>
            <p:ph type="sldNum" sz="quarter" idx="5"/>
          </p:nvPr>
        </p:nvSpPr>
        <p:spPr/>
        <p:txBody>
          <a:bodyPr/>
          <a:lstStyle/>
          <a:p>
            <a:fld id="{6A78380A-DE9B-4969-9312-906BA819635D}" type="slidenum">
              <a:rPr lang="en-IL" smtClean="0"/>
              <a:t>9</a:t>
            </a:fld>
            <a:endParaRPr lang="en-IL"/>
          </a:p>
        </p:txBody>
      </p:sp>
    </p:spTree>
    <p:extLst>
      <p:ext uri="{BB962C8B-B14F-4D97-AF65-F5344CB8AC3E}">
        <p14:creationId xmlns:p14="http://schemas.microsoft.com/office/powerpoint/2010/main" val="23618374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D0B86-389E-913F-C394-6557107653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9C0BDB15-3575-A06B-9A7F-61DA68E4D0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993147EB-C2B5-A67E-8D0F-452ABC6F39B7}"/>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31F5FAF8-77CF-56E6-9F5C-4DB11E3D3670}"/>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DBE54AC8-1B6D-16E0-D2FA-15FC29F15DEB}"/>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8033438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1181C-7726-473B-206F-C129C12C71DB}"/>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73145F49-79B7-4A57-FB76-993A5307320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0E37B3E0-99A0-BEA3-4EA9-20D4776EB67B}"/>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F7760932-8CFA-9C06-08DF-C0DA4922FD25}"/>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46466CA6-BC86-248B-D0E8-A2ACD094BE56}"/>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3842792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06CF3-7176-87F6-9362-63D5FA78730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A9B5629C-E972-A2B2-DDF1-4E2030B8CDF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35FCC67-DCB3-E88F-7D86-FA5413973D8E}"/>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96FB2C97-1C3E-F10A-0419-1841D931AD92}"/>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4529279A-0E62-FD3C-8FEA-3B5956E2D650}"/>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38818995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E8EBE-F2CF-7B69-524C-920E16C781C9}"/>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C6481BDD-560D-93FE-4517-2EB41109661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E4FEFB69-D27D-FDB1-6074-7F51E137C7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31744AB1-8A94-5136-3815-E42E4C5CE5EF}"/>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6" name="Footer Placeholder 5">
            <a:extLst>
              <a:ext uri="{FF2B5EF4-FFF2-40B4-BE49-F238E27FC236}">
                <a16:creationId xmlns:a16="http://schemas.microsoft.com/office/drawing/2014/main" id="{5A93CF68-6E42-B40D-05D1-DF4A7F0CBF31}"/>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506C66D4-8374-D27E-1A47-EAE74B28F83B}"/>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13036352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F1E14-A401-53DF-4567-ABB775F3D003}"/>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A8C1CAED-2EBA-6001-EAB9-50EA479C4E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3ED104-1522-1ADC-3A7C-76588A843A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0CD3695B-F123-F1D5-E874-560CB7CC07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4B1DD8E-BA7A-A3D1-B567-3EB938AB2C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00A5B14F-7729-B6FD-9E20-7704023EEB79}"/>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8" name="Footer Placeholder 7">
            <a:extLst>
              <a:ext uri="{FF2B5EF4-FFF2-40B4-BE49-F238E27FC236}">
                <a16:creationId xmlns:a16="http://schemas.microsoft.com/office/drawing/2014/main" id="{5A468BE3-7F0E-08C9-3FB3-BA9541608BA9}"/>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4BD708EB-94EA-203A-4FCF-54B1E0035FF4}"/>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18494179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1A899-2EAB-B67F-EF7E-CE6219628E5D}"/>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8AE4EFED-D9EA-5171-6590-C0B3DD67F4E8}"/>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4" name="Footer Placeholder 3">
            <a:extLst>
              <a:ext uri="{FF2B5EF4-FFF2-40B4-BE49-F238E27FC236}">
                <a16:creationId xmlns:a16="http://schemas.microsoft.com/office/drawing/2014/main" id="{4740C7CE-73AD-C9C5-F818-7D6AEF28FE73}"/>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2E90A5A8-0350-7EDE-DFC9-8FDC43E45966}"/>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1130899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0BDD1A-D217-1C1C-D599-09D0A4F23699}"/>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3" name="Footer Placeholder 2">
            <a:extLst>
              <a:ext uri="{FF2B5EF4-FFF2-40B4-BE49-F238E27FC236}">
                <a16:creationId xmlns:a16="http://schemas.microsoft.com/office/drawing/2014/main" id="{69E4EA95-D425-2008-8FB0-31B30B70FE23}"/>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5E35BEE8-2018-24F3-81C8-A60330282659}"/>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37607678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47373-52B9-5ECE-0D13-3BFF3C87EE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440EE83D-6162-5E6A-4D92-91C2B74818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A07B9A60-30C6-8F82-BAE5-19D24ABF8F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54FF01-15F4-D552-3992-58EC67E167A5}"/>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6" name="Footer Placeholder 5">
            <a:extLst>
              <a:ext uri="{FF2B5EF4-FFF2-40B4-BE49-F238E27FC236}">
                <a16:creationId xmlns:a16="http://schemas.microsoft.com/office/drawing/2014/main" id="{1CF93636-075D-07B5-B0C3-FAEB6B322986}"/>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8FCBFAD9-0F10-A4D0-569A-454F23834F07}"/>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3808571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CE012-232F-7DD5-7927-3F64E3756C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C8B6C78B-FCED-0611-B1E0-20C9509F834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F1F228CF-FA46-DD9E-89DC-8D4B598A7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23A981-B661-D4EA-1498-93289B33797B}"/>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6" name="Footer Placeholder 5">
            <a:extLst>
              <a:ext uri="{FF2B5EF4-FFF2-40B4-BE49-F238E27FC236}">
                <a16:creationId xmlns:a16="http://schemas.microsoft.com/office/drawing/2014/main" id="{8C1F32F0-99A7-ECB8-D647-24D5CBEC994C}"/>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0C4B0209-1230-96EC-10C9-46CB91E90500}"/>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2757212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2A10F-D370-D3B7-B12E-3084749AE1E7}"/>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EFE6B4D5-2985-4541-1812-7BC808B7EB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EC6ECE54-2A84-05F4-CDED-9E7337458883}"/>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0B0D5C41-EAC2-1C70-65E0-C509004F6E68}"/>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2BACAF5A-30AD-914A-375D-CD89FB979DFE}"/>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4292395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6434C32-F087-BC80-33BB-4D9224C9996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8173ECDB-AAEA-5160-F7AF-C90D6425F3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DE945527-05F6-3366-7620-2DBCAF1D459C}"/>
              </a:ext>
            </a:extLst>
          </p:cNvPr>
          <p:cNvSpPr>
            <a:spLocks noGrp="1"/>
          </p:cNvSpPr>
          <p:nvPr>
            <p:ph type="dt" sz="half" idx="10"/>
          </p:nvPr>
        </p:nvSpPr>
        <p:spPr/>
        <p:txBody>
          <a:body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90133B66-9DFF-30CE-D5D4-BECD1E9610FD}"/>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8E5AAB5E-92FE-B518-7409-F92DFF92C31D}"/>
              </a:ext>
            </a:extLst>
          </p:cNvPr>
          <p:cNvSpPr>
            <a:spLocks noGrp="1"/>
          </p:cNvSpPr>
          <p:nvPr>
            <p:ph type="sldNum" sz="quarter" idx="12"/>
          </p:nvPr>
        </p:nvSpPr>
        <p:spPr/>
        <p:txBody>
          <a:bodyPr/>
          <a:lstStyle/>
          <a:p>
            <a:fld id="{86B2B14F-509C-43FD-A82C-BF8B53B50A3B}" type="slidenum">
              <a:rPr lang="en-IL" smtClean="0"/>
              <a:t>‹#›</a:t>
            </a:fld>
            <a:endParaRPr lang="en-IL"/>
          </a:p>
        </p:txBody>
      </p:sp>
    </p:spTree>
    <p:extLst>
      <p:ext uri="{BB962C8B-B14F-4D97-AF65-F5344CB8AC3E}">
        <p14:creationId xmlns:p14="http://schemas.microsoft.com/office/powerpoint/2010/main" val="20450009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A091D18-EBDB-9E3C-C656-42D31F4E6B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DE20A75C-4DE9-726B-2BAE-F4B398A7FA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432DD3A3-13AA-1CA2-A9A3-1882532FD9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C9E3CEB-B8DE-46AA-A387-D24DB829E325}" type="datetimeFigureOut">
              <a:rPr lang="en-IL" smtClean="0"/>
              <a:t>27/11/2025</a:t>
            </a:fld>
            <a:endParaRPr lang="en-IL"/>
          </a:p>
        </p:txBody>
      </p:sp>
      <p:sp>
        <p:nvSpPr>
          <p:cNvPr id="5" name="Footer Placeholder 4">
            <a:extLst>
              <a:ext uri="{FF2B5EF4-FFF2-40B4-BE49-F238E27FC236}">
                <a16:creationId xmlns:a16="http://schemas.microsoft.com/office/drawing/2014/main" id="{4DF2FF44-B994-1C37-6C35-E354A091D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L"/>
          </a:p>
        </p:txBody>
      </p:sp>
      <p:sp>
        <p:nvSpPr>
          <p:cNvPr id="6" name="Slide Number Placeholder 5">
            <a:extLst>
              <a:ext uri="{FF2B5EF4-FFF2-40B4-BE49-F238E27FC236}">
                <a16:creationId xmlns:a16="http://schemas.microsoft.com/office/drawing/2014/main" id="{E7F1230E-B965-7A43-739C-2945C48C4E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B2B14F-509C-43FD-A82C-BF8B53B50A3B}" type="slidenum">
              <a:rPr lang="en-IL" smtClean="0"/>
              <a:t>‹#›</a:t>
            </a:fld>
            <a:endParaRPr lang="en-IL"/>
          </a:p>
        </p:txBody>
      </p:sp>
    </p:spTree>
    <p:extLst>
      <p:ext uri="{BB962C8B-B14F-4D97-AF65-F5344CB8AC3E}">
        <p14:creationId xmlns:p14="http://schemas.microsoft.com/office/powerpoint/2010/main" val="22999020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B58DD4-D323-CE34-6D36-98419C4425B7}"/>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5400" b="1"/>
              <a:t>הערכת עומק רחפן מתמונה</a:t>
            </a:r>
          </a:p>
        </p:txBody>
      </p:sp>
      <p:sp>
        <p:nvSpPr>
          <p:cNvPr id="2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60852127-E613-E7CD-548F-C29E0C2A019C}"/>
              </a:ext>
            </a:extLst>
          </p:cNvPr>
          <p:cNvSpPr>
            <a:spLocks noGrp="1"/>
          </p:cNvSpPr>
          <p:nvPr>
            <p:ph sz="half" idx="2"/>
          </p:nvPr>
        </p:nvSpPr>
        <p:spPr>
          <a:xfrm>
            <a:off x="640080" y="2872899"/>
            <a:ext cx="4243589" cy="3320668"/>
          </a:xfrm>
        </p:spPr>
        <p:txBody>
          <a:bodyPr vert="horz" lIns="91440" tIns="45720" rIns="91440" bIns="45720" rtlCol="0">
            <a:normAutofit/>
          </a:bodyPr>
          <a:lstStyle/>
          <a:p>
            <a:pPr algn="r" rtl="1"/>
            <a:r>
              <a:rPr lang="en-US" sz="2200" dirty="0"/>
              <a:t>Z Drone final project</a:t>
            </a:r>
          </a:p>
          <a:p>
            <a:pPr algn="r" rtl="1"/>
            <a:endParaRPr lang="en-US" sz="2200" dirty="0"/>
          </a:p>
          <a:p>
            <a:pPr algn="r" rtl="1"/>
            <a:endParaRPr lang="en-US" sz="2200" dirty="0"/>
          </a:p>
          <a:p>
            <a:pPr marL="0" algn="r" rtl="1"/>
            <a:r>
              <a:rPr lang="en-US" sz="2200" dirty="0"/>
              <a:t>Maoz </a:t>
            </a:r>
            <a:r>
              <a:rPr lang="en-US" sz="2200" dirty="0" err="1"/>
              <a:t>dainel</a:t>
            </a:r>
            <a:endParaRPr lang="en-US" sz="2200" dirty="0"/>
          </a:p>
          <a:p>
            <a:pPr marL="0" algn="r" rtl="1"/>
            <a:r>
              <a:rPr lang="en-US" sz="2200" dirty="0"/>
              <a:t>Noam Solow</a:t>
            </a:r>
          </a:p>
          <a:p>
            <a:pPr algn="r" rtl="1"/>
            <a:endParaRPr lang="en-US" sz="2200" dirty="0"/>
          </a:p>
        </p:txBody>
      </p:sp>
      <p:pic>
        <p:nvPicPr>
          <p:cNvPr id="5" name="Content Placeholder 4" descr="טיסת רחפנים בסינגפור המפוקוסת">
            <a:extLst>
              <a:ext uri="{FF2B5EF4-FFF2-40B4-BE49-F238E27FC236}">
                <a16:creationId xmlns:a16="http://schemas.microsoft.com/office/drawing/2014/main" id="{24F127F8-2FAD-46C4-ACF7-1BD791A74567}"/>
              </a:ext>
            </a:extLst>
          </p:cNvPr>
          <p:cNvPicPr>
            <a:picLocks noGrp="1" noChangeAspect="1"/>
          </p:cNvPicPr>
          <p:nvPr>
            <p:ph sz="half" idx="1"/>
          </p:nvPr>
        </p:nvPicPr>
        <p:blipFill>
          <a:blip r:embed="rId3"/>
          <a:srcRect l="18836" r="14211"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374006844"/>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5FAAD8-A737-22F8-BC2F-05C92131E5B9}"/>
              </a:ext>
            </a:extLst>
          </p:cNvPr>
          <p:cNvSpPr>
            <a:spLocks noGrp="1"/>
          </p:cNvSpPr>
          <p:nvPr>
            <p:ph type="title"/>
          </p:nvPr>
        </p:nvSpPr>
        <p:spPr>
          <a:xfrm>
            <a:off x="612648" y="600074"/>
            <a:ext cx="6035040" cy="1529932"/>
          </a:xfrm>
        </p:spPr>
        <p:txBody>
          <a:bodyPr vert="horz" lIns="91440" tIns="45720" rIns="91440" bIns="45720" rtlCol="0" anchor="b">
            <a:normAutofit/>
          </a:bodyPr>
          <a:lstStyle/>
          <a:p>
            <a:r>
              <a:rPr lang="en-US" sz="3600" b="1" kern="1200" dirty="0">
                <a:solidFill>
                  <a:schemeClr val="tx1"/>
                </a:solidFill>
                <a:latin typeface="+mj-lt"/>
                <a:ea typeface="+mj-ea"/>
                <a:cs typeface="+mj-cs"/>
              </a:rPr>
              <a:t>רקע ומוטיבציה לזיהוי תלת־ממדי</a:t>
            </a:r>
          </a:p>
        </p:txBody>
      </p:sp>
      <p:pic>
        <p:nvPicPr>
          <p:cNvPr id="5" name="Content Placeholder 4" descr="רחפן מעל העיר. תמונה שנוצרה דיגיטלית">
            <a:extLst>
              <a:ext uri="{FF2B5EF4-FFF2-40B4-BE49-F238E27FC236}">
                <a16:creationId xmlns:a16="http://schemas.microsoft.com/office/drawing/2014/main" id="{8BFC8E29-E07D-4AC0-9F74-B3DC5092BA13}"/>
              </a:ext>
            </a:extLst>
          </p:cNvPr>
          <p:cNvPicPr>
            <a:picLocks noGrp="1" noChangeAspect="1"/>
          </p:cNvPicPr>
          <p:nvPr>
            <p:ph sz="half" idx="1"/>
          </p:nvPr>
        </p:nvPicPr>
        <p:blipFill>
          <a:blip r:embed="rId3"/>
          <a:srcRect l="16234" r="30766"/>
          <a:stretch>
            <a:fillRect/>
          </a:stretch>
        </p:blipFill>
        <p:spPr>
          <a:xfrm>
            <a:off x="7345680" y="10"/>
            <a:ext cx="4846320" cy="6857990"/>
          </a:xfrm>
          <a:prstGeom prst="rect">
            <a:avLst/>
          </a:prstGeom>
        </p:spPr>
      </p:pic>
      <p:sp>
        <p:nvSpPr>
          <p:cNvPr id="7" name="Rectangle 3">
            <a:extLst>
              <a:ext uri="{FF2B5EF4-FFF2-40B4-BE49-F238E27FC236}">
                <a16:creationId xmlns:a16="http://schemas.microsoft.com/office/drawing/2014/main" id="{696ECF1E-8728-90EA-6077-B8CC5A00DC4F}"/>
              </a:ext>
            </a:extLst>
          </p:cNvPr>
          <p:cNvSpPr>
            <a:spLocks noGrp="1" noChangeArrowheads="1"/>
          </p:cNvSpPr>
          <p:nvPr>
            <p:ph sz="half" idx="2"/>
          </p:nvPr>
        </p:nvSpPr>
        <p:spPr bwMode="auto">
          <a:xfrm>
            <a:off x="1114499" y="2275692"/>
            <a:ext cx="5533951"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None/>
              <a:tabLst/>
            </a:pP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למה בכלל צריך לזהות עומק רחפן</a:t>
            </a:r>
            <a:r>
              <a:rPr kumimoji="0" lang="en-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מעקב, זיהוי והתרעה בזמן אמת</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endParaRPr kumimoji="0" lang="en-IL" altLang="en-IL" sz="18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None/>
              <a:tabLst/>
            </a:pP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פתרונות קיימים כיום</a:t>
            </a:r>
            <a:r>
              <a:rPr kumimoji="0" lang="en-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מערכות סטראו (2 מצלמות) / חיישני עומק ייעודיים</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נותנים דיוק טוב אבל</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יקרים, כבדים ומורכבים</a:t>
            </a:r>
            <a:r>
              <a:rPr kumimoji="0" lang="en-IL" altLang="en-IL" sz="1800" b="0" i="0" u="none" strike="noStrike" cap="none" normalizeH="0" baseline="0" dirty="0">
                <a:ln>
                  <a:noFill/>
                </a:ln>
                <a:solidFill>
                  <a:schemeClr val="tx1"/>
                </a:solidFill>
                <a:effectLst/>
                <a:latin typeface="Arial" panose="020B0604020202020204" pitchFamily="34" charset="0"/>
              </a:rPr>
              <a:t>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לתפעול/כיול</a:t>
            </a:r>
          </a:p>
          <a:p>
            <a:pPr algn="r" rtl="1" eaLnBrk="0" fontAlgn="base" hangingPunct="0">
              <a:lnSpc>
                <a:spcPct val="100000"/>
              </a:lnSpc>
              <a:spcBef>
                <a:spcPct val="0"/>
              </a:spcBef>
              <a:spcAft>
                <a:spcPct val="0"/>
              </a:spcAft>
            </a:pPr>
            <a:endParaRPr kumimoji="0" lang="en-IL" altLang="en-IL" sz="18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None/>
              <a:tabLst/>
            </a:pP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הפתרון שלנו</a:t>
            </a:r>
            <a:r>
              <a:rPr kumimoji="0" lang="en-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פתרון</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מונוקולרי</a:t>
            </a:r>
            <a:r>
              <a:rPr kumimoji="0" lang="en-IL" altLang="en-IL" sz="1800" b="0" i="0" u="none" strike="noStrike" cap="none" normalizeH="0" baseline="0" dirty="0">
                <a:ln>
                  <a:noFill/>
                </a:ln>
                <a:solidFill>
                  <a:schemeClr val="tx1"/>
                </a:solidFill>
                <a:effectLst/>
                <a:latin typeface="Arial" panose="020B0604020202020204" pitchFamily="34" charset="0"/>
              </a:rPr>
              <a:t> </a:t>
            </a:r>
            <a:r>
              <a:rPr kumimoji="0" lang="he-IL" altLang="en-IL" sz="1800" b="0" i="0" u="none" strike="noStrike" cap="none" normalizeH="0" baseline="0" dirty="0">
                <a:ln>
                  <a:noFill/>
                </a:ln>
                <a:solidFill>
                  <a:schemeClr val="tx1"/>
                </a:solidFill>
                <a:effectLst/>
                <a:latin typeface="Arial" panose="020B0604020202020204" pitchFamily="34" charset="0"/>
              </a:rPr>
              <a:t>-</a:t>
            </a:r>
            <a:r>
              <a:rPr kumimoji="0" lang="en-IL" altLang="en-IL" sz="1800" b="0" i="0" u="none" strike="noStrike" cap="none" normalizeH="0" baseline="0" dirty="0">
                <a:ln>
                  <a:noFill/>
                </a:ln>
                <a:solidFill>
                  <a:schemeClr val="tx1"/>
                </a:solidFill>
                <a:effectLst/>
                <a:latin typeface="Arial" panose="020B0604020202020204" pitchFamily="34" charset="0"/>
              </a:rPr>
              <a:t>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מצלמה אחת בלבד</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זול יותר, פשוט יותר לפריסה</a:t>
            </a:r>
          </a:p>
          <a:p>
            <a:pPr algn="r" rtl="1" eaLnBrk="0" fontAlgn="base" hangingPunct="0">
              <a:lnSpc>
                <a:spcPct val="100000"/>
              </a:lnSpc>
              <a:spcBef>
                <a:spcPct val="0"/>
              </a:spcBef>
              <a:spcAft>
                <a:spcPct val="0"/>
              </a:spcAft>
            </a:pPr>
            <a:endParaRPr kumimoji="0" lang="en-IL" altLang="en-IL" sz="18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None/>
              <a:tabLst/>
            </a:pPr>
            <a:r>
              <a:rPr kumimoji="0" lang="he-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האתגר המרכזי</a:t>
            </a:r>
            <a:r>
              <a:rPr kumimoji="0" lang="en-IL" altLang="en-IL" sz="1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algn="r" rtl="1" eaLnBrk="0" fontAlgn="base" hangingPunct="0">
              <a:lnSpc>
                <a:spcPct val="100000"/>
              </a:lnSpc>
              <a:spcBef>
                <a:spcPct val="0"/>
              </a:spcBef>
              <a:spcAft>
                <a:spcPct val="0"/>
              </a:spcAf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להסיק מידע תלת־ממדי</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(Z)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מתוך תמונה דו־ממדית אחת</a:t>
            </a:r>
            <a:endParaRPr kumimoji="0" lang="en-IL" altLang="en-IL" sz="18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None/>
              <a:tabLst/>
            </a:pPr>
            <a:endParaRPr kumimoji="0" lang="en-IL" altLang="en-IL"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2571809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76D6CDF-C512-4739-B158-55EE955EFA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03"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0FDDC5-B657-C0E6-D368-B4AC667CF586}"/>
              </a:ext>
            </a:extLst>
          </p:cNvPr>
          <p:cNvSpPr>
            <a:spLocks noGrp="1"/>
          </p:cNvSpPr>
          <p:nvPr>
            <p:ph type="title"/>
          </p:nvPr>
        </p:nvSpPr>
        <p:spPr>
          <a:xfrm>
            <a:off x="1137033" y="670559"/>
            <a:ext cx="4683321" cy="2148841"/>
          </a:xfrm>
        </p:spPr>
        <p:txBody>
          <a:bodyPr vert="horz" lIns="91440" tIns="45720" rIns="91440" bIns="45720" rtlCol="0" anchor="t">
            <a:normAutofit/>
          </a:bodyPr>
          <a:lstStyle/>
          <a:p>
            <a:r>
              <a:rPr lang="en-US" b="1"/>
              <a:t>הגדרת המשימה והיקף</a:t>
            </a:r>
          </a:p>
        </p:txBody>
      </p:sp>
      <p:pic>
        <p:nvPicPr>
          <p:cNvPr id="5" name="Content Placeholder 4" descr="רחפן משלוח">
            <a:extLst>
              <a:ext uri="{FF2B5EF4-FFF2-40B4-BE49-F238E27FC236}">
                <a16:creationId xmlns:a16="http://schemas.microsoft.com/office/drawing/2014/main" id="{DD51BA8D-4D37-46B0-AB73-AFF0EAB291FA}"/>
              </a:ext>
            </a:extLst>
          </p:cNvPr>
          <p:cNvPicPr>
            <a:picLocks noGrp="1" noChangeAspect="1"/>
          </p:cNvPicPr>
          <p:nvPr>
            <p:ph sz="half" idx="1"/>
          </p:nvPr>
        </p:nvPicPr>
        <p:blipFill>
          <a:blip r:embed="rId3"/>
          <a:srcRect t="3018" b="9794"/>
          <a:stretch>
            <a:fillRect/>
          </a:stretch>
        </p:blipFill>
        <p:spPr>
          <a:xfrm>
            <a:off x="1" y="3105151"/>
            <a:ext cx="6448424" cy="3752849"/>
          </a:xfrm>
          <a:custGeom>
            <a:avLst/>
            <a:gdLst/>
            <a:ahLst/>
            <a:cxnLst/>
            <a:rect l="l" t="t" r="r" b="b"/>
            <a:pathLst>
              <a:path w="6448424" h="3752849">
                <a:moveTo>
                  <a:pt x="0" y="0"/>
                </a:moveTo>
                <a:lnTo>
                  <a:pt x="137978" y="22215"/>
                </a:lnTo>
                <a:cubicBezTo>
                  <a:pt x="196046" y="32277"/>
                  <a:pt x="252469" y="42437"/>
                  <a:pt x="295660" y="49771"/>
                </a:cubicBezTo>
                <a:cubicBezTo>
                  <a:pt x="364885" y="66610"/>
                  <a:pt x="403214" y="32071"/>
                  <a:pt x="456941" y="65635"/>
                </a:cubicBezTo>
                <a:cubicBezTo>
                  <a:pt x="529612" y="69090"/>
                  <a:pt x="662508" y="71245"/>
                  <a:pt x="731691" y="70501"/>
                </a:cubicBezTo>
                <a:cubicBezTo>
                  <a:pt x="768741" y="62400"/>
                  <a:pt x="808263" y="64633"/>
                  <a:pt x="841820" y="61171"/>
                </a:cubicBezTo>
                <a:cubicBezTo>
                  <a:pt x="958973" y="43639"/>
                  <a:pt x="1009730" y="45863"/>
                  <a:pt x="1068219" y="39136"/>
                </a:cubicBezTo>
                <a:cubicBezTo>
                  <a:pt x="1104329" y="33447"/>
                  <a:pt x="1156536" y="44203"/>
                  <a:pt x="1174190" y="38808"/>
                </a:cubicBezTo>
                <a:cubicBezTo>
                  <a:pt x="1188943" y="36385"/>
                  <a:pt x="1213832" y="14880"/>
                  <a:pt x="1225923" y="34507"/>
                </a:cubicBezTo>
                <a:cubicBezTo>
                  <a:pt x="1305283" y="8501"/>
                  <a:pt x="1319617" y="30839"/>
                  <a:pt x="1385617" y="18003"/>
                </a:cubicBezTo>
                <a:cubicBezTo>
                  <a:pt x="1461876" y="-26747"/>
                  <a:pt x="1519510" y="56342"/>
                  <a:pt x="1563967" y="4638"/>
                </a:cubicBezTo>
                <a:lnTo>
                  <a:pt x="1676634" y="10582"/>
                </a:lnTo>
                <a:lnTo>
                  <a:pt x="1769429" y="20265"/>
                </a:lnTo>
                <a:cubicBezTo>
                  <a:pt x="1790625" y="23534"/>
                  <a:pt x="1880369" y="18448"/>
                  <a:pt x="1900584" y="27732"/>
                </a:cubicBezTo>
                <a:cubicBezTo>
                  <a:pt x="2072430" y="22762"/>
                  <a:pt x="2014935" y="5831"/>
                  <a:pt x="2127041" y="22101"/>
                </a:cubicBezTo>
                <a:cubicBezTo>
                  <a:pt x="2168847" y="65820"/>
                  <a:pt x="2153052" y="28773"/>
                  <a:pt x="2211644" y="44507"/>
                </a:cubicBezTo>
                <a:cubicBezTo>
                  <a:pt x="2211201" y="9921"/>
                  <a:pt x="2277596" y="73686"/>
                  <a:pt x="2299605" y="38004"/>
                </a:cubicBezTo>
                <a:cubicBezTo>
                  <a:pt x="2309570" y="41997"/>
                  <a:pt x="2318531" y="46991"/>
                  <a:pt x="2327359" y="52270"/>
                </a:cubicBezTo>
                <a:lnTo>
                  <a:pt x="2331995" y="55017"/>
                </a:lnTo>
                <a:lnTo>
                  <a:pt x="2353777" y="59755"/>
                </a:lnTo>
                <a:lnTo>
                  <a:pt x="2355893" y="68914"/>
                </a:lnTo>
                <a:lnTo>
                  <a:pt x="2385794" y="81650"/>
                </a:lnTo>
                <a:cubicBezTo>
                  <a:pt x="2397613" y="85211"/>
                  <a:pt x="2411061" y="87627"/>
                  <a:pt x="2427010" y="88184"/>
                </a:cubicBezTo>
                <a:cubicBezTo>
                  <a:pt x="2486314" y="76422"/>
                  <a:pt x="2553170" y="126870"/>
                  <a:pt x="2627153" y="110451"/>
                </a:cubicBezTo>
                <a:cubicBezTo>
                  <a:pt x="2653722" y="107383"/>
                  <a:pt x="2732043" y="116068"/>
                  <a:pt x="2744462" y="128780"/>
                </a:cubicBezTo>
                <a:cubicBezTo>
                  <a:pt x="2760299" y="132873"/>
                  <a:pt x="2780248" y="130843"/>
                  <a:pt x="2785202" y="143610"/>
                </a:cubicBezTo>
                <a:cubicBezTo>
                  <a:pt x="2794558" y="159316"/>
                  <a:pt x="2856498" y="142821"/>
                  <a:pt x="2844667" y="159029"/>
                </a:cubicBezTo>
                <a:cubicBezTo>
                  <a:pt x="2888530" y="147871"/>
                  <a:pt x="2914187" y="181391"/>
                  <a:pt x="2946649" y="192330"/>
                </a:cubicBezTo>
                <a:cubicBezTo>
                  <a:pt x="2981872" y="180417"/>
                  <a:pt x="3015239" y="215115"/>
                  <a:pt x="3088812" y="226485"/>
                </a:cubicBezTo>
                <a:cubicBezTo>
                  <a:pt x="3127734" y="212524"/>
                  <a:pt x="3138301" y="234381"/>
                  <a:pt x="3208669" y="217774"/>
                </a:cubicBezTo>
                <a:cubicBezTo>
                  <a:pt x="3242208" y="219284"/>
                  <a:pt x="3229623" y="233297"/>
                  <a:pt x="3290045" y="235553"/>
                </a:cubicBezTo>
                <a:cubicBezTo>
                  <a:pt x="3399655" y="215239"/>
                  <a:pt x="3444518" y="245862"/>
                  <a:pt x="3529335" y="249571"/>
                </a:cubicBezTo>
                <a:cubicBezTo>
                  <a:pt x="3623697" y="257405"/>
                  <a:pt x="3587652" y="268832"/>
                  <a:pt x="3716766" y="252690"/>
                </a:cubicBezTo>
                <a:cubicBezTo>
                  <a:pt x="3723469" y="267318"/>
                  <a:pt x="3737863" y="269842"/>
                  <a:pt x="3765333" y="266823"/>
                </a:cubicBezTo>
                <a:cubicBezTo>
                  <a:pt x="3810754" y="271601"/>
                  <a:pt x="3792745" y="303866"/>
                  <a:pt x="3846897" y="290090"/>
                </a:cubicBezTo>
                <a:cubicBezTo>
                  <a:pt x="3830941" y="306608"/>
                  <a:pt x="3929114" y="308026"/>
                  <a:pt x="3900217" y="323590"/>
                </a:cubicBezTo>
                <a:cubicBezTo>
                  <a:pt x="3922367" y="343425"/>
                  <a:pt x="3948574" y="318948"/>
                  <a:pt x="3971444" y="336662"/>
                </a:cubicBezTo>
                <a:cubicBezTo>
                  <a:pt x="4002781" y="344193"/>
                  <a:pt x="3960997" y="315419"/>
                  <a:pt x="3997868" y="318867"/>
                </a:cubicBezTo>
                <a:cubicBezTo>
                  <a:pt x="4041159" y="326219"/>
                  <a:pt x="4055435" y="293981"/>
                  <a:pt x="4070852" y="339615"/>
                </a:cubicBezTo>
                <a:cubicBezTo>
                  <a:pt x="4121286" y="335828"/>
                  <a:pt x="4121920" y="355506"/>
                  <a:pt x="4180483" y="373369"/>
                </a:cubicBezTo>
                <a:cubicBezTo>
                  <a:pt x="4211379" y="366707"/>
                  <a:pt x="4230171" y="374664"/>
                  <a:pt x="4246264" y="387458"/>
                </a:cubicBezTo>
                <a:cubicBezTo>
                  <a:pt x="4308508" y="393310"/>
                  <a:pt x="4357326" y="416142"/>
                  <a:pt x="4423169" y="431783"/>
                </a:cubicBezTo>
                <a:lnTo>
                  <a:pt x="4446752" y="435383"/>
                </a:lnTo>
                <a:lnTo>
                  <a:pt x="4446954" y="435566"/>
                </a:lnTo>
                <a:cubicBezTo>
                  <a:pt x="4508528" y="480137"/>
                  <a:pt x="4617740" y="529869"/>
                  <a:pt x="4662523" y="553169"/>
                </a:cubicBezTo>
                <a:cubicBezTo>
                  <a:pt x="4720320" y="547046"/>
                  <a:pt x="4678644" y="560102"/>
                  <a:pt x="4715641" y="575354"/>
                </a:cubicBezTo>
                <a:cubicBezTo>
                  <a:pt x="4682056" y="593278"/>
                  <a:pt x="4768370" y="586520"/>
                  <a:pt x="4742071" y="614016"/>
                </a:cubicBezTo>
                <a:cubicBezTo>
                  <a:pt x="4749637" y="615922"/>
                  <a:pt x="4757797" y="616899"/>
                  <a:pt x="4766183" y="617675"/>
                </a:cubicBezTo>
                <a:lnTo>
                  <a:pt x="4770562" y="618094"/>
                </a:lnTo>
                <a:lnTo>
                  <a:pt x="4783240" y="624350"/>
                </a:lnTo>
                <a:lnTo>
                  <a:pt x="4792882" y="620401"/>
                </a:lnTo>
                <a:lnTo>
                  <a:pt x="4816310" y="625721"/>
                </a:lnTo>
                <a:cubicBezTo>
                  <a:pt x="4824144" y="628595"/>
                  <a:pt x="4831482" y="632720"/>
                  <a:pt x="4837953" y="638824"/>
                </a:cubicBezTo>
                <a:cubicBezTo>
                  <a:pt x="4848645" y="668753"/>
                  <a:pt x="4922266" y="669148"/>
                  <a:pt x="4933914" y="707398"/>
                </a:cubicBezTo>
                <a:cubicBezTo>
                  <a:pt x="4940833" y="719653"/>
                  <a:pt x="4978358" y="746502"/>
                  <a:pt x="4995259" y="744825"/>
                </a:cubicBezTo>
                <a:cubicBezTo>
                  <a:pt x="5005107" y="749034"/>
                  <a:pt x="5010567" y="758092"/>
                  <a:pt x="5024744" y="753396"/>
                </a:cubicBezTo>
                <a:cubicBezTo>
                  <a:pt x="5047511" y="761361"/>
                  <a:pt x="5109162" y="783016"/>
                  <a:pt x="5131877" y="792613"/>
                </a:cubicBezTo>
                <a:cubicBezTo>
                  <a:pt x="5132671" y="802792"/>
                  <a:pt x="5144554" y="806683"/>
                  <a:pt x="5161031" y="810975"/>
                </a:cubicBezTo>
                <a:lnTo>
                  <a:pt x="5176815" y="815342"/>
                </a:lnTo>
                <a:lnTo>
                  <a:pt x="5180064" y="831233"/>
                </a:lnTo>
                <a:cubicBezTo>
                  <a:pt x="5202966" y="819270"/>
                  <a:pt x="5188976" y="863361"/>
                  <a:pt x="5215059" y="865080"/>
                </a:cubicBezTo>
                <a:cubicBezTo>
                  <a:pt x="5235765" y="864786"/>
                  <a:pt x="5236347" y="878098"/>
                  <a:pt x="5245643" y="887119"/>
                </a:cubicBezTo>
                <a:cubicBezTo>
                  <a:pt x="5267660" y="891609"/>
                  <a:pt x="5295742" y="939348"/>
                  <a:pt x="5295952" y="957174"/>
                </a:cubicBezTo>
                <a:cubicBezTo>
                  <a:pt x="5284322" y="1008946"/>
                  <a:pt x="5374979" y="1038019"/>
                  <a:pt x="5367826" y="1079140"/>
                </a:cubicBezTo>
                <a:cubicBezTo>
                  <a:pt x="5371668" y="1089190"/>
                  <a:pt x="5377921" y="1097135"/>
                  <a:pt x="5385646" y="1103730"/>
                </a:cubicBezTo>
                <a:lnTo>
                  <a:pt x="5410965" y="1119397"/>
                </a:lnTo>
                <a:lnTo>
                  <a:pt x="5436960" y="1130910"/>
                </a:lnTo>
                <a:lnTo>
                  <a:pt x="5442083" y="1133134"/>
                </a:lnTo>
                <a:cubicBezTo>
                  <a:pt x="5451910" y="1137346"/>
                  <a:pt x="5457170" y="1169188"/>
                  <a:pt x="5465219" y="1174479"/>
                </a:cubicBezTo>
                <a:cubicBezTo>
                  <a:pt x="5488744" y="1195184"/>
                  <a:pt x="5467141" y="1223401"/>
                  <a:pt x="5488171" y="1238604"/>
                </a:cubicBezTo>
                <a:cubicBezTo>
                  <a:pt x="5523491" y="1271811"/>
                  <a:pt x="5486623" y="1305961"/>
                  <a:pt x="5562172" y="1320840"/>
                </a:cubicBezTo>
                <a:cubicBezTo>
                  <a:pt x="5601634" y="1385316"/>
                  <a:pt x="5636528" y="1453139"/>
                  <a:pt x="5686905" y="1512529"/>
                </a:cubicBezTo>
                <a:cubicBezTo>
                  <a:pt x="5729049" y="1575678"/>
                  <a:pt x="5699691" y="1553768"/>
                  <a:pt x="5748726" y="1623716"/>
                </a:cubicBezTo>
                <a:cubicBezTo>
                  <a:pt x="5783098" y="1689734"/>
                  <a:pt x="5789710" y="1639740"/>
                  <a:pt x="5842593" y="1726595"/>
                </a:cubicBezTo>
                <a:cubicBezTo>
                  <a:pt x="5837824" y="1733043"/>
                  <a:pt x="5862023" y="1845188"/>
                  <a:pt x="5861042" y="1851837"/>
                </a:cubicBezTo>
                <a:cubicBezTo>
                  <a:pt x="5874156" y="1887981"/>
                  <a:pt x="5901790" y="1919218"/>
                  <a:pt x="5921290" y="1943460"/>
                </a:cubicBezTo>
                <a:lnTo>
                  <a:pt x="5978046" y="1997284"/>
                </a:lnTo>
                <a:lnTo>
                  <a:pt x="5992479" y="2056720"/>
                </a:lnTo>
                <a:cubicBezTo>
                  <a:pt x="6011078" y="2079033"/>
                  <a:pt x="6072687" y="2117397"/>
                  <a:pt x="6089639" y="2131171"/>
                </a:cubicBezTo>
                <a:lnTo>
                  <a:pt x="6094199" y="2139379"/>
                </a:lnTo>
                <a:lnTo>
                  <a:pt x="6094822" y="2139386"/>
                </a:lnTo>
                <a:cubicBezTo>
                  <a:pt x="6096947" y="2140841"/>
                  <a:pt x="6098876" y="2143416"/>
                  <a:pt x="6100692" y="2147736"/>
                </a:cubicBezTo>
                <a:lnTo>
                  <a:pt x="6102516" y="2154343"/>
                </a:lnTo>
                <a:lnTo>
                  <a:pt x="6111361" y="2170264"/>
                </a:lnTo>
                <a:lnTo>
                  <a:pt x="6215475" y="2270153"/>
                </a:lnTo>
                <a:lnTo>
                  <a:pt x="6255966" y="2335401"/>
                </a:lnTo>
                <a:lnTo>
                  <a:pt x="6272711" y="2385144"/>
                </a:lnTo>
                <a:cubicBezTo>
                  <a:pt x="6282320" y="2406495"/>
                  <a:pt x="6299066" y="2405139"/>
                  <a:pt x="6304347" y="2439388"/>
                </a:cubicBezTo>
                <a:cubicBezTo>
                  <a:pt x="6297131" y="2486231"/>
                  <a:pt x="6325530" y="2500962"/>
                  <a:pt x="6326729" y="2549400"/>
                </a:cubicBezTo>
                <a:cubicBezTo>
                  <a:pt x="6325926" y="2572066"/>
                  <a:pt x="6339111" y="2599957"/>
                  <a:pt x="6344663" y="2628839"/>
                </a:cubicBezTo>
                <a:lnTo>
                  <a:pt x="6375811" y="2639204"/>
                </a:lnTo>
                <a:cubicBezTo>
                  <a:pt x="6375427" y="2643533"/>
                  <a:pt x="6375041" y="2647863"/>
                  <a:pt x="6374657" y="2652193"/>
                </a:cubicBezTo>
                <a:cubicBezTo>
                  <a:pt x="6373555" y="2658134"/>
                  <a:pt x="6371943" y="2662665"/>
                  <a:pt x="6369740" y="2664642"/>
                </a:cubicBezTo>
                <a:cubicBezTo>
                  <a:pt x="6368032" y="2674540"/>
                  <a:pt x="6371528" y="2686899"/>
                  <a:pt x="6361964" y="2690172"/>
                </a:cubicBezTo>
                <a:cubicBezTo>
                  <a:pt x="6350507" y="2696218"/>
                  <a:pt x="6369375" y="2734440"/>
                  <a:pt x="6355511" y="2727335"/>
                </a:cubicBezTo>
                <a:cubicBezTo>
                  <a:pt x="6358746" y="2734104"/>
                  <a:pt x="6360434" y="2742096"/>
                  <a:pt x="6361058" y="2750592"/>
                </a:cubicBezTo>
                <a:cubicBezTo>
                  <a:pt x="6361013" y="2751998"/>
                  <a:pt x="6360970" y="2753408"/>
                  <a:pt x="6360926" y="2754814"/>
                </a:cubicBezTo>
                <a:lnTo>
                  <a:pt x="6339285" y="2810353"/>
                </a:lnTo>
                <a:cubicBezTo>
                  <a:pt x="6360091" y="2854187"/>
                  <a:pt x="6313103" y="2870086"/>
                  <a:pt x="6325672" y="2908809"/>
                </a:cubicBezTo>
                <a:cubicBezTo>
                  <a:pt x="6341563" y="2966972"/>
                  <a:pt x="6291836" y="2935388"/>
                  <a:pt x="6333498" y="3009772"/>
                </a:cubicBezTo>
                <a:cubicBezTo>
                  <a:pt x="6345476" y="3039254"/>
                  <a:pt x="6345955" y="3068963"/>
                  <a:pt x="6334947" y="3095405"/>
                </a:cubicBezTo>
                <a:lnTo>
                  <a:pt x="6344768" y="3155941"/>
                </a:lnTo>
                <a:cubicBezTo>
                  <a:pt x="6348643" y="3153663"/>
                  <a:pt x="6311793" y="3186588"/>
                  <a:pt x="6314754" y="3197987"/>
                </a:cubicBezTo>
                <a:cubicBezTo>
                  <a:pt x="6318695" y="3221971"/>
                  <a:pt x="6319257" y="3226752"/>
                  <a:pt x="6304230" y="3239690"/>
                </a:cubicBezTo>
                <a:cubicBezTo>
                  <a:pt x="6306321" y="3248567"/>
                  <a:pt x="6307305" y="3254005"/>
                  <a:pt x="6308837" y="3264003"/>
                </a:cubicBezTo>
                <a:cubicBezTo>
                  <a:pt x="6301812" y="3288243"/>
                  <a:pt x="6298529" y="3302527"/>
                  <a:pt x="6309285" y="3324103"/>
                </a:cubicBezTo>
                <a:cubicBezTo>
                  <a:pt x="6301188" y="3343007"/>
                  <a:pt x="6329285" y="3359307"/>
                  <a:pt x="6342503" y="3405661"/>
                </a:cubicBezTo>
                <a:cubicBezTo>
                  <a:pt x="6338012" y="3447477"/>
                  <a:pt x="6408325" y="3505721"/>
                  <a:pt x="6401531" y="3550593"/>
                </a:cubicBezTo>
                <a:cubicBezTo>
                  <a:pt x="6395655" y="3579549"/>
                  <a:pt x="6423437" y="3594758"/>
                  <a:pt x="6427705" y="3624684"/>
                </a:cubicBezTo>
                <a:cubicBezTo>
                  <a:pt x="6416402" y="3629199"/>
                  <a:pt x="6435787" y="3639516"/>
                  <a:pt x="6448424" y="3657106"/>
                </a:cubicBezTo>
                <a:lnTo>
                  <a:pt x="6444014" y="3752742"/>
                </a:lnTo>
                <a:cubicBezTo>
                  <a:pt x="6443990" y="3752777"/>
                  <a:pt x="6443967" y="3752813"/>
                  <a:pt x="6443946" y="3752849"/>
                </a:cubicBezTo>
                <a:lnTo>
                  <a:pt x="0" y="3752849"/>
                </a:lnTo>
                <a:close/>
              </a:path>
            </a:pathLst>
          </a:custGeom>
        </p:spPr>
      </p:pic>
      <p:sp>
        <p:nvSpPr>
          <p:cNvPr id="6" name="Rectangle 2">
            <a:extLst>
              <a:ext uri="{FF2B5EF4-FFF2-40B4-BE49-F238E27FC236}">
                <a16:creationId xmlns:a16="http://schemas.microsoft.com/office/drawing/2014/main" id="{31F359A4-2435-CE36-CE03-3BB0DC25B08E}"/>
              </a:ext>
            </a:extLst>
          </p:cNvPr>
          <p:cNvSpPr>
            <a:spLocks noGrp="1" noChangeArrowheads="1"/>
          </p:cNvSpPr>
          <p:nvPr>
            <p:ph sz="half" idx="2"/>
          </p:nvPr>
        </p:nvSpPr>
        <p:spPr bwMode="auto">
          <a:xfrm>
            <a:off x="5617029" y="1407332"/>
            <a:ext cx="5735184"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r" rtl="1" eaLnBrk="0" fontAlgn="base" hangingPunct="0">
              <a:lnSpc>
                <a:spcPct val="100000"/>
              </a:lnSpc>
              <a:spcBef>
                <a:spcPct val="0"/>
              </a:spcBef>
              <a:spcAft>
                <a:spcPct val="0"/>
              </a:spcAft>
              <a:buNone/>
            </a:pPr>
            <a:endParaRPr lang="he-IL" sz="1800" dirty="0"/>
          </a:p>
          <a:p>
            <a:pPr marL="0" indent="0" algn="r" rtl="1" eaLnBrk="0" fontAlgn="base" hangingPunct="0">
              <a:lnSpc>
                <a:spcPct val="100000"/>
              </a:lnSpc>
              <a:spcBef>
                <a:spcPct val="0"/>
              </a:spcBef>
              <a:spcAft>
                <a:spcPct val="0"/>
              </a:spcAft>
              <a:buNone/>
            </a:pPr>
            <a:r>
              <a:rPr lang="he-IL" sz="1800" dirty="0"/>
              <a:t>חלוקת הפרויקט: </a:t>
            </a:r>
          </a:p>
          <a:p>
            <a:pPr algn="r" rtl="1" eaLnBrk="0" fontAlgn="base" hangingPunct="0">
              <a:lnSpc>
                <a:spcPct val="100000"/>
              </a:lnSpc>
              <a:spcBef>
                <a:spcPct val="0"/>
              </a:spcBef>
              <a:spcAft>
                <a:spcPct val="0"/>
              </a:spcAft>
            </a:pPr>
            <a:r>
              <a:rPr lang="he-IL" sz="1800" dirty="0"/>
              <a:t>צוות אחר מטפל ב-</a:t>
            </a:r>
            <a:r>
              <a:rPr lang="en-IL" sz="1800" dirty="0"/>
              <a:t>X,Y </a:t>
            </a:r>
            <a:r>
              <a:rPr lang="he-IL" sz="1800" dirty="0"/>
              <a:t>, אנחנו אחראים על </a:t>
            </a:r>
            <a:r>
              <a:rPr lang="en-IL" sz="1800" dirty="0"/>
              <a:t>Z</a:t>
            </a:r>
            <a:br>
              <a:rPr lang="en-IL" sz="1800" dirty="0"/>
            </a:br>
            <a:endParaRPr lang="he-IL" sz="1800" dirty="0"/>
          </a:p>
          <a:p>
            <a:pPr marL="0" indent="0" algn="r" rtl="1" eaLnBrk="0" fontAlgn="base" hangingPunct="0">
              <a:lnSpc>
                <a:spcPct val="100000"/>
              </a:lnSpc>
              <a:spcBef>
                <a:spcPct val="0"/>
              </a:spcBef>
              <a:spcAft>
                <a:spcPct val="0"/>
              </a:spcAft>
              <a:buNone/>
            </a:pPr>
            <a:r>
              <a:rPr lang="he-IL" sz="1800" dirty="0"/>
              <a:t>קלט למערכת:</a:t>
            </a:r>
          </a:p>
          <a:p>
            <a:pPr algn="r" rtl="1" eaLnBrk="0" fontAlgn="base" hangingPunct="0">
              <a:lnSpc>
                <a:spcPct val="100000"/>
              </a:lnSpc>
              <a:spcBef>
                <a:spcPct val="0"/>
              </a:spcBef>
              <a:spcAft>
                <a:spcPct val="0"/>
              </a:spcAft>
            </a:pPr>
            <a:r>
              <a:rPr lang="he-IL" sz="1800" dirty="0"/>
              <a:t> תמונה, </a:t>
            </a:r>
            <a:r>
              <a:rPr lang="en-IL" sz="1800" dirty="0"/>
              <a:t>Bounding Box </a:t>
            </a:r>
            <a:r>
              <a:rPr lang="he-IL" sz="1800" dirty="0"/>
              <a:t> של הרחפן, ו-</a:t>
            </a:r>
            <a:r>
              <a:rPr lang="en-IL" sz="1800" dirty="0"/>
              <a:t>Ground Truth </a:t>
            </a:r>
            <a:r>
              <a:rPr lang="he-IL" sz="1800" dirty="0"/>
              <a:t> של </a:t>
            </a:r>
            <a:r>
              <a:rPr lang="en-IL" sz="1800" dirty="0"/>
              <a:t>Z </a:t>
            </a:r>
            <a:r>
              <a:rPr lang="he-IL" sz="1800" dirty="0"/>
              <a:t>מהסימולטור</a:t>
            </a:r>
            <a:br>
              <a:rPr lang="he-IL" sz="1800" dirty="0"/>
            </a:br>
            <a:endParaRPr lang="he-IL" sz="1800" dirty="0"/>
          </a:p>
          <a:p>
            <a:pPr marL="0" indent="0" algn="r" rtl="1" eaLnBrk="0" fontAlgn="base" hangingPunct="0">
              <a:lnSpc>
                <a:spcPct val="100000"/>
              </a:lnSpc>
              <a:spcBef>
                <a:spcPct val="0"/>
              </a:spcBef>
              <a:spcAft>
                <a:spcPct val="0"/>
              </a:spcAft>
              <a:buNone/>
            </a:pPr>
            <a:r>
              <a:rPr lang="he-IL" sz="1800" dirty="0"/>
              <a:t>פלט:</a:t>
            </a:r>
          </a:p>
          <a:p>
            <a:pPr algn="r" rtl="1" eaLnBrk="0" fontAlgn="base" hangingPunct="0">
              <a:lnSpc>
                <a:spcPct val="100000"/>
              </a:lnSpc>
              <a:spcBef>
                <a:spcPct val="0"/>
              </a:spcBef>
              <a:spcAft>
                <a:spcPct val="0"/>
              </a:spcAft>
            </a:pPr>
            <a:r>
              <a:rPr lang="he-IL" sz="1800" dirty="0"/>
              <a:t> </a:t>
            </a:r>
            <a:r>
              <a:rPr lang="en-IL" sz="1800" dirty="0"/>
              <a:t>Z </a:t>
            </a:r>
            <a:r>
              <a:rPr lang="he-IL" sz="1800" dirty="0"/>
              <a:t> במטרים - עומק/מרחק הרחפן מהמצלמה</a:t>
            </a:r>
            <a:br>
              <a:rPr lang="he-IL" sz="1800" dirty="0"/>
            </a:br>
            <a:endParaRPr lang="he-IL" sz="1800" dirty="0"/>
          </a:p>
          <a:p>
            <a:pPr marL="0" indent="0" algn="r" rtl="1" eaLnBrk="0" fontAlgn="base" hangingPunct="0">
              <a:lnSpc>
                <a:spcPct val="100000"/>
              </a:lnSpc>
              <a:spcBef>
                <a:spcPct val="0"/>
              </a:spcBef>
              <a:spcAft>
                <a:spcPct val="0"/>
              </a:spcAft>
              <a:buNone/>
            </a:pPr>
            <a:r>
              <a:rPr lang="he-IL" sz="1800" dirty="0"/>
              <a:t>סוג הדאטה:</a:t>
            </a:r>
          </a:p>
          <a:p>
            <a:pPr algn="r" rtl="1" eaLnBrk="0" fontAlgn="base" hangingPunct="0">
              <a:lnSpc>
                <a:spcPct val="100000"/>
              </a:lnSpc>
              <a:spcBef>
                <a:spcPct val="0"/>
              </a:spcBef>
              <a:spcAft>
                <a:spcPct val="0"/>
              </a:spcAft>
            </a:pPr>
            <a:r>
              <a:rPr lang="he-IL" sz="1800" dirty="0"/>
              <a:t> דאטה סינתטי בלבד (</a:t>
            </a:r>
            <a:r>
              <a:rPr lang="en-IL" sz="1800" dirty="0"/>
              <a:t>Unreal Engine) </a:t>
            </a:r>
            <a:r>
              <a:rPr lang="he-IL" sz="1800" dirty="0"/>
              <a:t> עם </a:t>
            </a:r>
            <a:r>
              <a:rPr lang="en-IL" sz="1800" dirty="0"/>
              <a:t>GT</a:t>
            </a:r>
            <a:r>
              <a:rPr lang="he-IL" sz="1800" dirty="0"/>
              <a:t>מדויק לכל פריים</a:t>
            </a:r>
            <a:endParaRPr kumimoji="0" lang="en-IL" altLang="en-IL"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9624346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81843A-924A-8295-E008-D3C09F2D149D}"/>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he-IL" sz="3600" b="1" kern="1200" dirty="0">
                <a:solidFill>
                  <a:schemeClr val="tx1"/>
                </a:solidFill>
                <a:latin typeface="+mj-lt"/>
                <a:ea typeface="+mj-ea"/>
                <a:cs typeface="+mj-cs"/>
              </a:rPr>
              <a:t>תרשים זרימה ודיוק התוצאות</a:t>
            </a:r>
            <a:endParaRPr lang="en-US" sz="3600" b="1" kern="1200" dirty="0">
              <a:solidFill>
                <a:schemeClr val="tx1"/>
              </a:solidFill>
              <a:latin typeface="+mj-lt"/>
              <a:ea typeface="+mj-ea"/>
              <a:cs typeface="+mj-cs"/>
            </a:endParaRPr>
          </a:p>
        </p:txBody>
      </p:sp>
      <p:pic>
        <p:nvPicPr>
          <p:cNvPr id="5" name="Content Placeholder 4" descr="הצלחת נורת רעיון השראה בנייר מקומט">
            <a:extLst>
              <a:ext uri="{FF2B5EF4-FFF2-40B4-BE49-F238E27FC236}">
                <a16:creationId xmlns:a16="http://schemas.microsoft.com/office/drawing/2014/main" id="{DB352863-5A20-449A-AB1B-0E35D4E0B1AD}"/>
              </a:ext>
            </a:extLst>
          </p:cNvPr>
          <p:cNvPicPr>
            <a:picLocks noGrp="1" noChangeAspect="1"/>
          </p:cNvPicPr>
          <p:nvPr>
            <p:ph sz="half" idx="1"/>
          </p:nvPr>
        </p:nvPicPr>
        <p:blipFill>
          <a:blip r:embed="rId3"/>
          <a:srcRect l="16004" r="30296"/>
          <a:stretch>
            <a:fillRect/>
          </a:stretch>
        </p:blipFill>
        <p:spPr>
          <a:xfrm>
            <a:off x="20" y="10"/>
            <a:ext cx="4910308" cy="6857990"/>
          </a:xfrm>
          <a:prstGeom prst="rect">
            <a:avLst/>
          </a:prstGeom>
        </p:spPr>
      </p:pic>
      <p:pic>
        <p:nvPicPr>
          <p:cNvPr id="9" name="Picture 8">
            <a:extLst>
              <a:ext uri="{FF2B5EF4-FFF2-40B4-BE49-F238E27FC236}">
                <a16:creationId xmlns:a16="http://schemas.microsoft.com/office/drawing/2014/main" id="{8F8A2B8A-F1CA-24AD-29CE-202889F3CBBF}"/>
              </a:ext>
            </a:extLst>
          </p:cNvPr>
          <p:cNvPicPr>
            <a:picLocks noChangeAspect="1"/>
          </p:cNvPicPr>
          <p:nvPr/>
        </p:nvPicPr>
        <p:blipFill>
          <a:blip r:embed="rId4"/>
          <a:stretch>
            <a:fillRect/>
          </a:stretch>
        </p:blipFill>
        <p:spPr>
          <a:xfrm>
            <a:off x="5141161" y="4327203"/>
            <a:ext cx="6901543" cy="1589836"/>
          </a:xfrm>
          <a:prstGeom prst="rect">
            <a:avLst/>
          </a:prstGeom>
        </p:spPr>
      </p:pic>
      <p:pic>
        <p:nvPicPr>
          <p:cNvPr id="12" name="Picture 11">
            <a:extLst>
              <a:ext uri="{FF2B5EF4-FFF2-40B4-BE49-F238E27FC236}">
                <a16:creationId xmlns:a16="http://schemas.microsoft.com/office/drawing/2014/main" id="{9CEF3EC1-B56A-F16D-4D06-5749AF3AA600}"/>
              </a:ext>
            </a:extLst>
          </p:cNvPr>
          <p:cNvPicPr>
            <a:picLocks noChangeAspect="1"/>
          </p:cNvPicPr>
          <p:nvPr/>
        </p:nvPicPr>
        <p:blipFill>
          <a:blip r:embed="rId5"/>
          <a:stretch>
            <a:fillRect/>
          </a:stretch>
        </p:blipFill>
        <p:spPr>
          <a:xfrm>
            <a:off x="5181600" y="2615131"/>
            <a:ext cx="6901543" cy="909074"/>
          </a:xfrm>
          <a:prstGeom prst="rect">
            <a:avLst/>
          </a:prstGeom>
        </p:spPr>
      </p:pic>
    </p:spTree>
    <p:extLst>
      <p:ext uri="{BB962C8B-B14F-4D97-AF65-F5344CB8AC3E}">
        <p14:creationId xmlns:p14="http://schemas.microsoft.com/office/powerpoint/2010/main" val="173308895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7" name="Group 16">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8" name="Freeform: Shape 17">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Freeform: Shape 18">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121AC39F-0059-8E16-40B2-AC54C017320E}"/>
              </a:ext>
            </a:extLst>
          </p:cNvPr>
          <p:cNvSpPr>
            <a:spLocks noGrp="1"/>
          </p:cNvSpPr>
          <p:nvPr>
            <p:ph type="title"/>
          </p:nvPr>
        </p:nvSpPr>
        <p:spPr>
          <a:xfrm>
            <a:off x="640080" y="1243013"/>
            <a:ext cx="3855720" cy="4371974"/>
          </a:xfrm>
        </p:spPr>
        <p:txBody>
          <a:bodyPr>
            <a:normAutofit/>
          </a:bodyPr>
          <a:lstStyle/>
          <a:p>
            <a:r>
              <a:rPr lang="en-IL" sz="3600">
                <a:solidFill>
                  <a:schemeClr val="tx2"/>
                </a:solidFill>
              </a:rPr>
              <a:t>יצירת דאטה סינתטי ב-Unreal</a:t>
            </a:r>
          </a:p>
        </p:txBody>
      </p:sp>
      <p:sp>
        <p:nvSpPr>
          <p:cNvPr id="3" name="Content Placeholder 2">
            <a:extLst>
              <a:ext uri="{FF2B5EF4-FFF2-40B4-BE49-F238E27FC236}">
                <a16:creationId xmlns:a16="http://schemas.microsoft.com/office/drawing/2014/main" id="{2C40B9D2-6005-41C7-28A8-E888D750BC4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2200" y="804672"/>
            <a:ext cx="5221224" cy="5230368"/>
          </a:xfrm>
        </p:spPr>
        <p:txBody>
          <a:bodyPr>
            <a:normAutofit/>
          </a:bodyPr>
          <a:lstStyle/>
          <a:p>
            <a:pPr algn="r" rtl="1">
              <a:lnSpc>
                <a:spcPct val="150000"/>
              </a:lnSpc>
              <a:spcBef>
                <a:spcPts val="2500"/>
              </a:spcBef>
            </a:pPr>
            <a:r>
              <a:rPr lang="he-IL" sz="1800" dirty="0">
                <a:solidFill>
                  <a:schemeClr val="tx2"/>
                </a:solidFill>
              </a:rPr>
              <a:t>הדאטה שלנו מגיע מסימולציה ב-</a:t>
            </a:r>
            <a:r>
              <a:rPr lang="en-IL" sz="1800" dirty="0">
                <a:solidFill>
                  <a:schemeClr val="tx2"/>
                </a:solidFill>
              </a:rPr>
              <a:t>Unreal Engine </a:t>
            </a:r>
            <a:r>
              <a:rPr lang="he-IL" sz="1800" dirty="0">
                <a:solidFill>
                  <a:schemeClr val="tx2"/>
                </a:solidFill>
              </a:rPr>
              <a:t> בלבד</a:t>
            </a:r>
          </a:p>
          <a:p>
            <a:pPr algn="r" rtl="1">
              <a:lnSpc>
                <a:spcPct val="150000"/>
              </a:lnSpc>
              <a:spcBef>
                <a:spcPts val="2500"/>
              </a:spcBef>
            </a:pPr>
            <a:r>
              <a:rPr lang="he-IL" sz="1800" dirty="0">
                <a:solidFill>
                  <a:schemeClr val="tx2"/>
                </a:solidFill>
              </a:rPr>
              <a:t> </a:t>
            </a:r>
            <a:r>
              <a:rPr lang="en-IL" sz="1800" dirty="0">
                <a:solidFill>
                  <a:schemeClr val="tx2"/>
                </a:solidFill>
              </a:rPr>
              <a:t>Unreal </a:t>
            </a:r>
            <a:r>
              <a:rPr lang="he-IL" sz="1800" dirty="0">
                <a:solidFill>
                  <a:schemeClr val="tx2"/>
                </a:solidFill>
              </a:rPr>
              <a:t> מספק </a:t>
            </a:r>
            <a:r>
              <a:rPr lang="en-IL" sz="1800" dirty="0">
                <a:solidFill>
                  <a:schemeClr val="tx2"/>
                </a:solidFill>
              </a:rPr>
              <a:t>Ground Truth </a:t>
            </a:r>
            <a:r>
              <a:rPr lang="he-IL" sz="1800" dirty="0">
                <a:solidFill>
                  <a:schemeClr val="tx2"/>
                </a:solidFill>
              </a:rPr>
              <a:t> מדויק של מיקום הרחפן לכל פריים, בלי איסוף דאטה אמיתי יקר</a:t>
            </a:r>
          </a:p>
          <a:p>
            <a:pPr algn="r" rtl="1">
              <a:lnSpc>
                <a:spcPct val="150000"/>
              </a:lnSpc>
              <a:spcBef>
                <a:spcPts val="2500"/>
              </a:spcBef>
            </a:pPr>
            <a:r>
              <a:rPr lang="he-IL" sz="1800" dirty="0">
                <a:solidFill>
                  <a:schemeClr val="tx2"/>
                </a:solidFill>
              </a:rPr>
              <a:t>חובה לשמור את מיקום הרחפן במערכת הצירים של המצלמה (</a:t>
            </a:r>
            <a:r>
              <a:rPr lang="en-IL" sz="1800" dirty="0">
                <a:solidFill>
                  <a:schemeClr val="tx2"/>
                </a:solidFill>
              </a:rPr>
              <a:t>Camera Space) </a:t>
            </a:r>
            <a:r>
              <a:rPr lang="he-IL" sz="1800" dirty="0">
                <a:solidFill>
                  <a:schemeClr val="tx2"/>
                </a:solidFill>
              </a:rPr>
              <a:t> כדי שה-</a:t>
            </a:r>
            <a:r>
              <a:rPr lang="en-IL" sz="1800" dirty="0">
                <a:solidFill>
                  <a:schemeClr val="tx2"/>
                </a:solidFill>
              </a:rPr>
              <a:t>Z </a:t>
            </a:r>
            <a:r>
              <a:rPr lang="he-IL" sz="1800" dirty="0">
                <a:solidFill>
                  <a:schemeClr val="tx2"/>
                </a:solidFill>
              </a:rPr>
              <a:t>יהיה “מרחק מהמצלמה” </a:t>
            </a:r>
          </a:p>
          <a:p>
            <a:pPr algn="r" rtl="1">
              <a:lnSpc>
                <a:spcPct val="150000"/>
              </a:lnSpc>
              <a:spcBef>
                <a:spcPts val="2500"/>
              </a:spcBef>
            </a:pPr>
            <a:r>
              <a:rPr lang="he-IL" sz="1800" dirty="0">
                <a:solidFill>
                  <a:schemeClr val="tx2"/>
                </a:solidFill>
              </a:rPr>
              <a:t>נדרש סנכרון מלא בין צילום הפריים ללוג ה-</a:t>
            </a:r>
            <a:r>
              <a:rPr lang="en-IL" sz="1800" dirty="0">
                <a:solidFill>
                  <a:schemeClr val="tx2"/>
                </a:solidFill>
              </a:rPr>
              <a:t>GT (</a:t>
            </a:r>
            <a:r>
              <a:rPr lang="he-IL" sz="1800" dirty="0">
                <a:solidFill>
                  <a:schemeClr val="tx2"/>
                </a:solidFill>
              </a:rPr>
              <a:t> אותו </a:t>
            </a:r>
            <a:r>
              <a:rPr lang="en-IL" sz="1800" dirty="0">
                <a:solidFill>
                  <a:schemeClr val="tx2"/>
                </a:solidFill>
              </a:rPr>
              <a:t>frame index) </a:t>
            </a:r>
            <a:r>
              <a:rPr lang="he-IL" sz="1800" dirty="0">
                <a:solidFill>
                  <a:schemeClr val="tx2"/>
                </a:solidFill>
              </a:rPr>
              <a:t> כדי לא לזהם את הדאטה</a:t>
            </a:r>
            <a:br>
              <a:rPr lang="he-IL" sz="1800" dirty="0">
                <a:solidFill>
                  <a:schemeClr val="tx2"/>
                </a:solidFill>
              </a:rPr>
            </a:br>
            <a:r>
              <a:rPr lang="he-IL" sz="1800" dirty="0">
                <a:solidFill>
                  <a:schemeClr val="tx2"/>
                </a:solidFill>
              </a:rPr>
              <a:t>נייצר גיוון שיטתי בדאטה: טווחי מרחק שונים, רקעים ותנאי תאורה/מזג אוויר, כדי שהמודל יהיה רובסטי</a:t>
            </a:r>
          </a:p>
        </p:txBody>
      </p:sp>
    </p:spTree>
    <p:extLst>
      <p:ext uri="{BB962C8B-B14F-4D97-AF65-F5344CB8AC3E}">
        <p14:creationId xmlns:p14="http://schemas.microsoft.com/office/powerpoint/2010/main" val="169190970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עין מסתובבת בתוך זכוכית עם לוח מחשב טכנולוגי מתקדם">
            <a:extLst>
              <a:ext uri="{FF2B5EF4-FFF2-40B4-BE49-F238E27FC236}">
                <a16:creationId xmlns:a16="http://schemas.microsoft.com/office/drawing/2014/main" id="{AB14AC66-1C40-4AC1-BC99-2968293B7642}"/>
              </a:ext>
            </a:extLst>
          </p:cNvPr>
          <p:cNvPicPr>
            <a:picLocks noGrp="1" noChangeAspect="1"/>
          </p:cNvPicPr>
          <p:nvPr>
            <p:ph sz="half" idx="1"/>
          </p:nvPr>
        </p:nvPicPr>
        <p:blipFill>
          <a:blip r:embed="rId3"/>
          <a:srcRect l="8252" r="12437"/>
          <a:stretch>
            <a:fillRect/>
          </a:stretch>
        </p:blipFill>
        <p:spPr>
          <a:xfrm>
            <a:off x="-1208313" y="0"/>
            <a:ext cx="9669642" cy="6857990"/>
          </a:xfrm>
          <a:prstGeom prst="rect">
            <a:avLst/>
          </a:prstGeom>
        </p:spPr>
      </p:pic>
      <p:sp>
        <p:nvSpPr>
          <p:cNvPr id="17" name="Rectangle 16">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947F579-F353-220D-957A-1F831009719E}"/>
              </a:ext>
            </a:extLst>
          </p:cNvPr>
          <p:cNvSpPr>
            <a:spLocks noGrp="1"/>
          </p:cNvSpPr>
          <p:nvPr>
            <p:ph type="title"/>
          </p:nvPr>
        </p:nvSpPr>
        <p:spPr>
          <a:xfrm>
            <a:off x="7029765" y="103868"/>
            <a:ext cx="3822189" cy="1899912"/>
          </a:xfrm>
        </p:spPr>
        <p:txBody>
          <a:bodyPr vert="horz" lIns="91440" tIns="45720" rIns="91440" bIns="45720" rtlCol="0" anchor="ctr">
            <a:normAutofit/>
          </a:bodyPr>
          <a:lstStyle/>
          <a:p>
            <a:pPr algn="r" rtl="1"/>
            <a:r>
              <a:rPr lang="en-US" sz="4000" b="1" dirty="0" err="1"/>
              <a:t>דגשים</a:t>
            </a:r>
            <a:r>
              <a:rPr lang="en-US" sz="4000" b="1" dirty="0"/>
              <a:t> </a:t>
            </a:r>
            <a:r>
              <a:rPr lang="en-US" sz="4000" b="1" dirty="0" err="1"/>
              <a:t>קריטיים</a:t>
            </a:r>
            <a:r>
              <a:rPr lang="en-US" sz="4000" b="1" dirty="0"/>
              <a:t> </a:t>
            </a:r>
            <a:r>
              <a:rPr lang="en-US" sz="4000" b="1" dirty="0" err="1"/>
              <a:t>במצלמה</a:t>
            </a:r>
            <a:r>
              <a:rPr lang="en-US" sz="4000" b="1" dirty="0"/>
              <a:t> </a:t>
            </a:r>
            <a:r>
              <a:rPr lang="en-US" sz="4000" b="1" dirty="0" err="1"/>
              <a:t>ובקואורדינטות</a:t>
            </a:r>
            <a:endParaRPr lang="en-US" sz="4000" b="1" dirty="0"/>
          </a:p>
        </p:txBody>
      </p:sp>
      <p:sp>
        <p:nvSpPr>
          <p:cNvPr id="11" name="Rectangle 3">
            <a:extLst>
              <a:ext uri="{FF2B5EF4-FFF2-40B4-BE49-F238E27FC236}">
                <a16:creationId xmlns:a16="http://schemas.microsoft.com/office/drawing/2014/main" id="{4A6AD0EA-B648-1447-7437-EBC77166FF5E}"/>
              </a:ext>
            </a:extLst>
          </p:cNvPr>
          <p:cNvSpPr>
            <a:spLocks noChangeArrowheads="1"/>
          </p:cNvSpPr>
          <p:nvPr/>
        </p:nvSpPr>
        <p:spPr bwMode="auto">
          <a:xfrm>
            <a:off x="6455229" y="3127850"/>
            <a:ext cx="5231877" cy="2118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r" defTabSz="914400" rtl="1" eaLnBrk="0" fontAlgn="base" latinLnBrk="0" hangingPunct="0">
              <a:lnSpc>
                <a:spcPct val="150000"/>
              </a:lnSpc>
              <a:spcBef>
                <a:spcPct val="0"/>
              </a:spcBef>
              <a:spcAft>
                <a:spcPct val="0"/>
              </a:spcAft>
              <a:buClrTx/>
              <a:buSzTx/>
              <a:buFont typeface="Arial" panose="020B0604020202020204" pitchFamily="34" charset="0"/>
              <a:buChar char="•"/>
              <a:tabLs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ה־</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Z Ground Truth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חייב להיות</a:t>
            </a:r>
            <a:r>
              <a:rPr lang="en-IL" altLang="en-IL" dirty="0">
                <a:latin typeface="Arial" panose="020B0604020202020204" pitchFamily="34" charset="0"/>
                <a:cs typeface="Arial" panose="020B0604020202020204" pitchFamily="34" charset="0"/>
              </a:rPr>
              <a:t>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ב־</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Camera Space </a:t>
            </a:r>
            <a:r>
              <a:rPr kumimoji="0" lang="ar-SA"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מרחק מהמצלמה)</a:t>
            </a:r>
            <a:endParaRPr lang="en-IL" altLang="en-IL" dirty="0">
              <a:latin typeface="Arial" panose="020B0604020202020204" pitchFamily="34" charset="0"/>
              <a:cs typeface="Arial" panose="020B0604020202020204" pitchFamily="34" charset="0"/>
            </a:endParaRPr>
          </a:p>
          <a:p>
            <a:pPr marL="285750" marR="0" lvl="0" indent="-285750" algn="r" defTabSz="914400" rtl="1" eaLnBrk="0" fontAlgn="base" latinLnBrk="0" hangingPunct="0">
              <a:lnSpc>
                <a:spcPct val="150000"/>
              </a:lnSpc>
              <a:spcBef>
                <a:spcPct val="0"/>
              </a:spcBef>
              <a:spcAft>
                <a:spcPct val="0"/>
              </a:spcAft>
              <a:buClrTx/>
              <a:buSzTx/>
              <a:buFont typeface="Arial" panose="020B0604020202020204" pitchFamily="34" charset="0"/>
              <a:buChar char="•"/>
              <a:tabLs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פרמטרי המצלמה: </a:t>
            </a:r>
            <a:r>
              <a:rPr kumimoji="0" lang="en-IL" altLang="en-IL" sz="18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fx</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n-IL" altLang="en-IL" sz="18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fy</a:t>
            </a:r>
            <a:r>
              <a:rPr kumimoji="0" lang="en-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cx, cy, FOV </a:t>
            </a: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חייבים להתאים לחישובים שלנו</a:t>
            </a:r>
            <a:endParaRPr lang="en-IL" altLang="en-IL" dirty="0">
              <a:latin typeface="Arial" panose="020B0604020202020204" pitchFamily="34" charset="0"/>
              <a:cs typeface="Arial" panose="020B0604020202020204" pitchFamily="34" charset="0"/>
            </a:endParaRPr>
          </a:p>
          <a:p>
            <a:pPr marL="285750" marR="0" lvl="0" indent="-285750" algn="r" defTabSz="914400" rtl="1" eaLnBrk="0" fontAlgn="base" latinLnBrk="0" hangingPunct="0">
              <a:lnSpc>
                <a:spcPct val="150000"/>
              </a:lnSpc>
              <a:spcBef>
                <a:spcPct val="0"/>
              </a:spcBef>
              <a:spcAft>
                <a:spcPct val="0"/>
              </a:spcAft>
              <a:buClrTx/>
              <a:buSzTx/>
              <a:buFont typeface="Arial" panose="020B0604020202020204" pitchFamily="34" charset="0"/>
              <a:buChar char="•"/>
              <a:tabLst/>
            </a:pPr>
            <a:r>
              <a:rPr kumimoji="0" lang="he-IL" altLang="en-IL" sz="18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אי־התאמה בפרמטרים תגרום לשגיאות</a:t>
            </a:r>
            <a:endParaRPr lang="en-IL" altLang="en-IL"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4800468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D5078EAE-5122-8147-3AC6-9BDAADCED3E5}"/>
              </a:ext>
            </a:extLst>
          </p:cNvPr>
          <p:cNvSpPr>
            <a:spLocks noGrp="1"/>
          </p:cNvSpPr>
          <p:nvPr>
            <p:ph type="title"/>
          </p:nvPr>
        </p:nvSpPr>
        <p:spPr>
          <a:xfrm>
            <a:off x="838200" y="365125"/>
            <a:ext cx="5393361" cy="1325563"/>
          </a:xfrm>
        </p:spPr>
        <p:txBody>
          <a:bodyPr vert="horz" lIns="91440" tIns="45720" rIns="91440" bIns="45720" rtlCol="0" anchor="ctr">
            <a:normAutofit/>
          </a:bodyPr>
          <a:lstStyle/>
          <a:p>
            <a:r>
              <a:rPr lang="en-US" b="1"/>
              <a:t>בחירת ארכיטקטורת עומק</a:t>
            </a:r>
          </a:p>
        </p:txBody>
      </p:sp>
      <p:pic>
        <p:nvPicPr>
          <p:cNvPr id="5" name="Content Placeholder 4" descr="תצוגה אווירית של הרכב ואחריה לוויין">
            <a:extLst>
              <a:ext uri="{FF2B5EF4-FFF2-40B4-BE49-F238E27FC236}">
                <a16:creationId xmlns:a16="http://schemas.microsoft.com/office/drawing/2014/main" id="{4E78FD15-869D-4853-A282-C318DAD84736}"/>
              </a:ext>
            </a:extLst>
          </p:cNvPr>
          <p:cNvPicPr>
            <a:picLocks noGrp="1" noChangeAspect="1"/>
          </p:cNvPicPr>
          <p:nvPr>
            <p:ph sz="half" idx="1"/>
          </p:nvPr>
        </p:nvPicPr>
        <p:blipFill>
          <a:blip r:embed="rId3"/>
          <a:srcRect l="32129" r="1162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1"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9"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B8D8C3DF-B198-4C0B-2CBC-79987E5D4C71}"/>
              </a:ext>
            </a:extLst>
          </p:cNvPr>
          <p:cNvSpPr txBox="1"/>
          <p:nvPr/>
        </p:nvSpPr>
        <p:spPr>
          <a:xfrm>
            <a:off x="1014232" y="2055813"/>
            <a:ext cx="4731216" cy="2585323"/>
          </a:xfrm>
          <a:prstGeom prst="rect">
            <a:avLst/>
          </a:prstGeom>
          <a:noFill/>
        </p:spPr>
        <p:txBody>
          <a:bodyPr wrap="square">
            <a:spAutoFit/>
          </a:bodyPr>
          <a:lstStyle/>
          <a:p>
            <a:pPr algn="r" rtl="1"/>
            <a:br>
              <a:rPr lang="he-IL" dirty="0"/>
            </a:br>
            <a:r>
              <a:rPr lang="en-IL" dirty="0" err="1"/>
              <a:t>MiDaS</a:t>
            </a:r>
            <a:r>
              <a:rPr lang="en-IL" dirty="0"/>
              <a:t> </a:t>
            </a:r>
            <a:r>
              <a:rPr lang="he-IL" dirty="0"/>
              <a:t>- בסיס מהיר ופשוט שמחזיר עומק יחסי טוב בלי אימון התחלתי</a:t>
            </a:r>
          </a:p>
          <a:p>
            <a:pPr algn="r" rtl="1"/>
            <a:endParaRPr lang="he-IL" dirty="0"/>
          </a:p>
          <a:p>
            <a:pPr algn="r" rtl="1"/>
            <a:r>
              <a:rPr lang="en-IL" dirty="0" err="1"/>
              <a:t>ZoeDepth</a:t>
            </a:r>
            <a:r>
              <a:rPr lang="en-IL" dirty="0"/>
              <a:t> </a:t>
            </a:r>
            <a:r>
              <a:rPr lang="he-IL" dirty="0"/>
              <a:t>-מודל מתקדם יותר שנותן עומק קרוב למטרי ומשפר דיוק אחרי הבייסליין, בנוי על </a:t>
            </a:r>
            <a:r>
              <a:rPr lang="en-IL" dirty="0" err="1"/>
              <a:t>MiDaS</a:t>
            </a:r>
            <a:endParaRPr lang="he-IL" dirty="0"/>
          </a:p>
          <a:p>
            <a:pPr algn="r" rtl="1"/>
            <a:br>
              <a:rPr lang="en-IL" dirty="0"/>
            </a:br>
            <a:r>
              <a:rPr lang="en-IL" dirty="0"/>
              <a:t>Depth Anything</a:t>
            </a:r>
            <a:r>
              <a:rPr lang="he-IL" dirty="0"/>
              <a:t>- מודל עומק חדש וחזק מאוד, נבחן אם נצטרך קפיצת דיוק נוספת</a:t>
            </a:r>
            <a:endParaRPr lang="en-IL" dirty="0"/>
          </a:p>
        </p:txBody>
      </p:sp>
    </p:spTree>
    <p:extLst>
      <p:ext uri="{BB962C8B-B14F-4D97-AF65-F5344CB8AC3E}">
        <p14:creationId xmlns:p14="http://schemas.microsoft.com/office/powerpoint/2010/main" val="336281456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22E158-05DC-523E-E397-1E46CDA7CEF6}"/>
              </a:ext>
            </a:extLst>
          </p:cNvPr>
          <p:cNvSpPr>
            <a:spLocks noGrp="1"/>
          </p:cNvSpPr>
          <p:nvPr>
            <p:ph type="title"/>
          </p:nvPr>
        </p:nvSpPr>
        <p:spPr>
          <a:xfrm>
            <a:off x="5568534" y="233389"/>
            <a:ext cx="5916169" cy="1527048"/>
          </a:xfrm>
        </p:spPr>
        <p:txBody>
          <a:bodyPr vert="horz" lIns="91440" tIns="45720" rIns="91440" bIns="45720" rtlCol="0" anchor="b">
            <a:normAutofit/>
          </a:bodyPr>
          <a:lstStyle/>
          <a:p>
            <a:pPr rtl="1"/>
            <a:r>
              <a:rPr lang="he-IL" sz="3600" b="1" kern="1200" dirty="0">
                <a:solidFill>
                  <a:schemeClr val="tx1"/>
                </a:solidFill>
                <a:latin typeface="+mj-lt"/>
                <a:ea typeface="+mj-ea"/>
                <a:cs typeface="+mj-cs"/>
              </a:rPr>
              <a:t> </a:t>
            </a:r>
            <a:r>
              <a:rPr lang="en-US" sz="3600" b="1" kern="1200" dirty="0" err="1">
                <a:solidFill>
                  <a:schemeClr val="tx1"/>
                </a:solidFill>
                <a:latin typeface="+mj-lt"/>
                <a:ea typeface="+mj-ea"/>
                <a:cs typeface="+mj-cs"/>
              </a:rPr>
              <a:t>איך</a:t>
            </a:r>
            <a:r>
              <a:rPr lang="en-US" sz="3600" b="1" kern="1200" dirty="0">
                <a:solidFill>
                  <a:schemeClr val="tx1"/>
                </a:solidFill>
                <a:latin typeface="+mj-lt"/>
                <a:ea typeface="+mj-ea"/>
                <a:cs typeface="+mj-cs"/>
              </a:rPr>
              <a:t> </a:t>
            </a:r>
            <a:r>
              <a:rPr lang="en-US" sz="3600" b="1" kern="1200" dirty="0" err="1">
                <a:solidFill>
                  <a:schemeClr val="tx1"/>
                </a:solidFill>
                <a:latin typeface="+mj-lt"/>
                <a:ea typeface="+mj-ea"/>
                <a:cs typeface="+mj-cs"/>
              </a:rPr>
              <a:t>מחשבים</a:t>
            </a:r>
            <a:r>
              <a:rPr lang="en-US" sz="3600" b="1" kern="1200" dirty="0">
                <a:solidFill>
                  <a:schemeClr val="tx1"/>
                </a:solidFill>
                <a:latin typeface="+mj-lt"/>
                <a:ea typeface="+mj-ea"/>
                <a:cs typeface="+mj-cs"/>
              </a:rPr>
              <a:t> </a:t>
            </a:r>
            <a:r>
              <a:rPr lang="en-US" sz="3600" b="1" kern="1200" dirty="0" err="1">
                <a:solidFill>
                  <a:schemeClr val="tx1"/>
                </a:solidFill>
                <a:latin typeface="+mj-lt"/>
                <a:ea typeface="+mj-ea"/>
                <a:cs typeface="+mj-cs"/>
              </a:rPr>
              <a:t>ערך</a:t>
            </a:r>
            <a:r>
              <a:rPr lang="en-IL" sz="3600" b="1" dirty="0"/>
              <a:t>Z </a:t>
            </a:r>
            <a:endParaRPr lang="en-US" sz="3600" b="1" kern="1200" dirty="0">
              <a:solidFill>
                <a:schemeClr val="tx1"/>
              </a:solidFill>
              <a:latin typeface="+mj-lt"/>
              <a:ea typeface="+mj-ea"/>
              <a:cs typeface="+mj-cs"/>
            </a:endParaRPr>
          </a:p>
        </p:txBody>
      </p:sp>
      <p:pic>
        <p:nvPicPr>
          <p:cNvPr id="5" name="Content Placeholder 4" descr="קונספט מטאברס, פסל ונוס דה מילו עם אוזניות מציאות מדומה">
            <a:extLst>
              <a:ext uri="{FF2B5EF4-FFF2-40B4-BE49-F238E27FC236}">
                <a16:creationId xmlns:a16="http://schemas.microsoft.com/office/drawing/2014/main" id="{A036DD27-AFF2-43B5-B1D2-5D2892A0FBCF}"/>
              </a:ext>
            </a:extLst>
          </p:cNvPr>
          <p:cNvPicPr>
            <a:picLocks noGrp="1" noChangeAspect="1"/>
          </p:cNvPicPr>
          <p:nvPr>
            <p:ph sz="half" idx="1"/>
          </p:nvPr>
        </p:nvPicPr>
        <p:blipFill>
          <a:blip r:embed="rId3"/>
          <a:srcRect l="34013" r="28218"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2EDAEC5A-5CDF-70D7-E6CD-C43CFA43742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508196"/>
            <a:ext cx="5916169" cy="4095078"/>
          </a:xfrm>
        </p:spPr>
        <p:txBody>
          <a:bodyPr>
            <a:normAutofit/>
          </a:bodyPr>
          <a:lstStyle/>
          <a:p>
            <a:pPr algn="r" rtl="1">
              <a:spcBef>
                <a:spcPts val="2500"/>
              </a:spcBef>
            </a:pPr>
            <a:r>
              <a:rPr lang="he-IL" sz="2000" dirty="0"/>
              <a:t>מריצים את מודל העומק על כל התמונה ומקבלים </a:t>
            </a:r>
            <a:r>
              <a:rPr lang="en-IL" sz="2000" dirty="0"/>
              <a:t>Depth Map</a:t>
            </a:r>
          </a:p>
          <a:p>
            <a:pPr algn="r" rtl="1">
              <a:spcBef>
                <a:spcPts val="2500"/>
              </a:spcBef>
            </a:pPr>
            <a:r>
              <a:rPr lang="he-IL" sz="2000" dirty="0"/>
              <a:t>משתמשים ב-</a:t>
            </a:r>
            <a:r>
              <a:rPr lang="en-IL" sz="2000" dirty="0"/>
              <a:t> Bounding Box </a:t>
            </a:r>
            <a:r>
              <a:rPr lang="he-IL" sz="2000" dirty="0"/>
              <a:t>כדי לבודד את אזור הרחפן במפת העומק</a:t>
            </a:r>
            <a:endParaRPr lang="en-IL" sz="2000" dirty="0"/>
          </a:p>
          <a:p>
            <a:pPr algn="r" rtl="1">
              <a:spcBef>
                <a:spcPts val="2500"/>
              </a:spcBef>
            </a:pPr>
            <a:r>
              <a:rPr lang="he-IL" sz="2000" dirty="0"/>
              <a:t>מחלצים ערך עומק מייצג לרחפן (למשל </a:t>
            </a:r>
            <a:r>
              <a:rPr lang="en-IL" sz="2000" dirty="0"/>
              <a:t>median / mean </a:t>
            </a:r>
            <a:r>
              <a:rPr lang="he-IL" sz="2000" dirty="0"/>
              <a:t>בתוך התיבה)</a:t>
            </a:r>
            <a:endParaRPr lang="en-IL" sz="2000" dirty="0"/>
          </a:p>
          <a:p>
            <a:pPr algn="r" rtl="1">
              <a:spcBef>
                <a:spcPts val="2500"/>
              </a:spcBef>
            </a:pPr>
            <a:r>
              <a:rPr lang="he-IL" sz="2000" dirty="0"/>
              <a:t>התוצאה בשלב הזה היא </a:t>
            </a:r>
            <a:r>
              <a:rPr lang="en-IL" sz="2000" dirty="0"/>
              <a:t> Z e</a:t>
            </a:r>
            <a:r>
              <a:rPr lang="he-IL" sz="2000" dirty="0"/>
              <a:t> (ויחסי, לפני המרה למטרים</a:t>
            </a:r>
          </a:p>
          <a:p>
            <a:pPr algn="r" rtl="1">
              <a:spcBef>
                <a:spcPts val="2500"/>
              </a:spcBef>
            </a:pPr>
            <a:r>
              <a:rPr lang="he-IL" sz="2000" dirty="0"/>
              <a:t>נמיר למטרים בעזרת </a:t>
            </a:r>
            <a:r>
              <a:rPr lang="en-IL" sz="2000" dirty="0"/>
              <a:t>Calibration</a:t>
            </a:r>
            <a:r>
              <a:rPr lang="he-IL" sz="2000" dirty="0"/>
              <a:t> </a:t>
            </a:r>
            <a:r>
              <a:rPr lang="en-IL" sz="2000" dirty="0" err="1"/>
              <a:t>Scal</a:t>
            </a:r>
            <a:r>
              <a:rPr lang="he-IL" sz="2000" dirty="0"/>
              <a:t>נוסיף פקטור אם צריך)</a:t>
            </a:r>
          </a:p>
        </p:txBody>
      </p:sp>
    </p:spTree>
    <p:extLst>
      <p:ext uri="{BB962C8B-B14F-4D97-AF65-F5344CB8AC3E}">
        <p14:creationId xmlns:p14="http://schemas.microsoft.com/office/powerpoint/2010/main" val="291415321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EBD840-C21D-B92D-74BE-4BC96C50BC6E}"/>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הכלים המרכזיים בפרויקט</a:t>
            </a:r>
          </a:p>
        </p:txBody>
      </p:sp>
      <p:pic>
        <p:nvPicPr>
          <p:cNvPr id="5" name="Content Placeholder 4" descr="תקציר, רקעים, ביג דאטה, קוד בינארי, כחול">
            <a:extLst>
              <a:ext uri="{FF2B5EF4-FFF2-40B4-BE49-F238E27FC236}">
                <a16:creationId xmlns:a16="http://schemas.microsoft.com/office/drawing/2014/main" id="{1B501819-85D2-4571-AFCA-C3C366D24C15}"/>
              </a:ext>
            </a:extLst>
          </p:cNvPr>
          <p:cNvPicPr>
            <a:picLocks noGrp="1" noChangeAspect="1"/>
          </p:cNvPicPr>
          <p:nvPr>
            <p:ph sz="half" idx="1"/>
          </p:nvPr>
        </p:nvPicPr>
        <p:blipFill>
          <a:blip r:embed="rId3"/>
          <a:srcRect r="59725"/>
          <a:stretch>
            <a:fillRect/>
          </a:stretch>
        </p:blipFill>
        <p:spPr>
          <a:xfrm>
            <a:off x="20" y="10"/>
            <a:ext cx="4910308" cy="6857990"/>
          </a:xfrm>
          <a:prstGeom prst="rect">
            <a:avLst/>
          </a:prstGeom>
        </p:spPr>
      </p:pic>
      <p:sp>
        <p:nvSpPr>
          <p:cNvPr id="6" name="TextBox 5">
            <a:extLst>
              <a:ext uri="{FF2B5EF4-FFF2-40B4-BE49-F238E27FC236}">
                <a16:creationId xmlns:a16="http://schemas.microsoft.com/office/drawing/2014/main" id="{AB68B6D2-FB15-6357-8BD2-9A077C410935}"/>
              </a:ext>
            </a:extLst>
          </p:cNvPr>
          <p:cNvSpPr txBox="1"/>
          <p:nvPr/>
        </p:nvSpPr>
        <p:spPr>
          <a:xfrm>
            <a:off x="8915399" y="2883264"/>
            <a:ext cx="2743199" cy="2031325"/>
          </a:xfrm>
          <a:prstGeom prst="rect">
            <a:avLst/>
          </a:prstGeom>
          <a:noFill/>
        </p:spPr>
        <p:txBody>
          <a:bodyPr wrap="square">
            <a:spAutoFit/>
          </a:bodyPr>
          <a:lstStyle/>
          <a:p>
            <a:pPr marL="285750" indent="-285750" algn="r" rtl="1">
              <a:buFont typeface="Arial" panose="020B0604020202020204" pitchFamily="34" charset="0"/>
              <a:buChar char="•"/>
            </a:pPr>
            <a:r>
              <a:rPr lang="en-IL" dirty="0"/>
              <a:t>Python </a:t>
            </a:r>
            <a:r>
              <a:rPr lang="he-IL" dirty="0"/>
              <a:t>ו־</a:t>
            </a:r>
            <a:r>
              <a:rPr lang="en-IL" dirty="0" err="1"/>
              <a:t>PyTorch</a:t>
            </a:r>
            <a:endParaRPr lang="he-IL" dirty="0"/>
          </a:p>
          <a:p>
            <a:pPr marL="285750" indent="-285750" algn="r" rtl="1">
              <a:buFont typeface="Arial" panose="020B0604020202020204" pitchFamily="34" charset="0"/>
              <a:buChar char="•"/>
            </a:pPr>
            <a:r>
              <a:rPr lang="en-IL" dirty="0" err="1"/>
              <a:t>Jupyter</a:t>
            </a:r>
            <a:r>
              <a:rPr lang="en-IL" dirty="0"/>
              <a:t> Notebook / </a:t>
            </a:r>
            <a:r>
              <a:rPr lang="en-IL" dirty="0" err="1"/>
              <a:t>JupyterLab</a:t>
            </a:r>
            <a:endParaRPr lang="he-IL" dirty="0"/>
          </a:p>
          <a:p>
            <a:pPr marL="285750" indent="-285750" algn="r" rtl="1">
              <a:buFont typeface="Arial" panose="020B0604020202020204" pitchFamily="34" charset="0"/>
              <a:buChar char="•"/>
            </a:pPr>
            <a:r>
              <a:rPr lang="en-IL" dirty="0"/>
              <a:t>OpenCV</a:t>
            </a:r>
            <a:endParaRPr lang="he-IL" dirty="0"/>
          </a:p>
          <a:p>
            <a:pPr marL="285750" indent="-285750" algn="r" rtl="1">
              <a:buFont typeface="Arial" panose="020B0604020202020204" pitchFamily="34" charset="0"/>
              <a:buChar char="•"/>
            </a:pPr>
            <a:r>
              <a:rPr lang="en-IL" dirty="0"/>
              <a:t>Scikit-learn</a:t>
            </a:r>
            <a:r>
              <a:rPr lang="he-IL" dirty="0"/>
              <a:t> (אופציונאלי)</a:t>
            </a:r>
          </a:p>
          <a:p>
            <a:pPr marL="285750" indent="-285750" algn="r" rtl="1">
              <a:buFont typeface="Arial" panose="020B0604020202020204" pitchFamily="34" charset="0"/>
              <a:buChar char="•"/>
            </a:pPr>
            <a:r>
              <a:rPr lang="en-IL" dirty="0"/>
              <a:t>Matplotlib</a:t>
            </a:r>
            <a:endParaRPr lang="he-IL" dirty="0"/>
          </a:p>
          <a:p>
            <a:pPr marL="285750" indent="-285750" algn="r" rtl="1">
              <a:buFont typeface="Arial" panose="020B0604020202020204" pitchFamily="34" charset="0"/>
              <a:buChar char="•"/>
            </a:pPr>
            <a:endParaRPr lang="en-IL" dirty="0"/>
          </a:p>
        </p:txBody>
      </p:sp>
      <p:sp>
        <p:nvSpPr>
          <p:cNvPr id="7" name="TextBox 6">
            <a:extLst>
              <a:ext uri="{FF2B5EF4-FFF2-40B4-BE49-F238E27FC236}">
                <a16:creationId xmlns:a16="http://schemas.microsoft.com/office/drawing/2014/main" id="{B0BA4BB6-D058-0C53-B0DC-354FDDCDE4E2}"/>
              </a:ext>
            </a:extLst>
          </p:cNvPr>
          <p:cNvSpPr txBox="1"/>
          <p:nvPr/>
        </p:nvSpPr>
        <p:spPr>
          <a:xfrm>
            <a:off x="5410199" y="2883264"/>
            <a:ext cx="2743199" cy="646331"/>
          </a:xfrm>
          <a:prstGeom prst="rect">
            <a:avLst/>
          </a:prstGeom>
          <a:noFill/>
        </p:spPr>
        <p:txBody>
          <a:bodyPr wrap="square">
            <a:spAutoFit/>
          </a:bodyPr>
          <a:lstStyle/>
          <a:p>
            <a:pPr marL="285750" indent="-285750" algn="r" rtl="1">
              <a:buFont typeface="Arial" panose="020B0604020202020204" pitchFamily="34" charset="0"/>
              <a:buChar char="•"/>
            </a:pPr>
            <a:r>
              <a:rPr lang="en-IL" dirty="0"/>
              <a:t>Unreal Engine 5</a:t>
            </a:r>
            <a:endParaRPr lang="he-IL" dirty="0"/>
          </a:p>
          <a:p>
            <a:pPr marL="285750" indent="-285750" algn="r" rtl="1">
              <a:buFont typeface="Arial" panose="020B0604020202020204" pitchFamily="34" charset="0"/>
              <a:buChar char="•"/>
            </a:pPr>
            <a:r>
              <a:rPr lang="en-IL" dirty="0"/>
              <a:t>GPU</a:t>
            </a:r>
            <a:r>
              <a:rPr lang="he-IL" dirty="0"/>
              <a:t> של החברה</a:t>
            </a:r>
          </a:p>
        </p:txBody>
      </p:sp>
    </p:spTree>
    <p:extLst>
      <p:ext uri="{BB962C8B-B14F-4D97-AF65-F5344CB8AC3E}">
        <p14:creationId xmlns:p14="http://schemas.microsoft.com/office/powerpoint/2010/main" val="414723414"/>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TotalTime>
  <Words>969</Words>
  <Application>Microsoft Office PowerPoint</Application>
  <PresentationFormat>Widescreen</PresentationFormat>
  <Paragraphs>77</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Calibri</vt:lpstr>
      <vt:lpstr>Office Theme</vt:lpstr>
      <vt:lpstr>הערכת עומק רחפן מתמונה</vt:lpstr>
      <vt:lpstr>רקע ומוטיבציה לזיהוי תלת־ממדי</vt:lpstr>
      <vt:lpstr>הגדרת המשימה והיקף</vt:lpstr>
      <vt:lpstr>תרשים זרימה ודיוק התוצאות</vt:lpstr>
      <vt:lpstr>יצירת דאטה סינתטי ב-Unreal</vt:lpstr>
      <vt:lpstr>דגשים קריטיים במצלמה ובקואורדינטות</vt:lpstr>
      <vt:lpstr>בחירת ארכיטקטורת עומק</vt:lpstr>
      <vt:lpstr> איך מחשבים ערךZ </vt:lpstr>
      <vt:lpstr>הכלים המרכזיים בפרויקט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noam solow</dc:creator>
  <cp:lastModifiedBy>noam solow</cp:lastModifiedBy>
  <cp:revision>1</cp:revision>
  <dcterms:created xsi:type="dcterms:W3CDTF">2025-11-24T17:50:21Z</dcterms:created>
  <dcterms:modified xsi:type="dcterms:W3CDTF">2025-11-27T12:49:07Z</dcterms:modified>
</cp:coreProperties>
</file>